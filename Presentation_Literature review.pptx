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9" r:id="rId1"/>
  </p:sldMasterIdLst>
  <p:sldIdLst>
    <p:sldId id="256" r:id="rId2"/>
    <p:sldId id="257" r:id="rId3"/>
    <p:sldId id="258" r:id="rId4"/>
    <p:sldId id="259" r:id="rId5"/>
    <p:sldId id="270" r:id="rId6"/>
    <p:sldId id="268" r:id="rId7"/>
    <p:sldId id="269" r:id="rId8"/>
    <p:sldId id="261" r:id="rId9"/>
    <p:sldId id="265" r:id="rId10"/>
    <p:sldId id="267" r:id="rId11"/>
    <p:sldId id="275" r:id="rId12"/>
    <p:sldId id="266" r:id="rId13"/>
    <p:sldId id="260" r:id="rId14"/>
    <p:sldId id="262" r:id="rId15"/>
    <p:sldId id="263"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n Choi LEUNG" initials="ML" lastIdx="10" clrIdx="0">
    <p:extLst>
      <p:ext uri="{19B8F6BF-5375-455C-9EA6-DF929625EA0E}">
        <p15:presenceInfo xmlns:p15="http://schemas.microsoft.com/office/powerpoint/2012/main" userId="S::mcleungae@connect.ust.hk::2082a99d-34b9-4cc4-ac7e-8c37b894d45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481BA9-BD11-9534-1F72-ABC5E6DB92B4}" v="341" dt="2020-11-08T16:09:13.409"/>
    <p1510:client id="{28ACC9C4-3BEF-46EE-83D9-65066B8FEE50}" v="272" dt="2020-11-07T15:43:22.825"/>
    <p1510:client id="{3676A4D1-D563-C512-4AD6-E3F4CC6AF203}" v="1157" dt="2020-11-09T15:32:32.746"/>
    <p1510:client id="{3B6BA512-C11B-9FE3-FB51-2670FA46F67B}" v="1914" dt="2020-11-09T11:21:44.245"/>
    <p1510:client id="{47921B8E-5137-1795-ED3D-28808C42CE39}" v="1" dt="2020-11-07T15:33:54.770"/>
    <p1510:client id="{B15AD537-0018-66AD-3340-79CD42997507}" v="319" dt="2020-11-07T17:04:20.958"/>
    <p1510:client id="{DC15AD3A-B0E0-1CC6-6849-ACABBFAA37F7}" v="93" dt="2020-11-09T15:28:43.064"/>
    <p1510:client id="{DDDAABE0-721B-1195-3AE3-7C86D68BB1A9}" v="968" dt="2020-11-09T15:51:41.123"/>
    <p1510:client id="{F9F2ED98-A73B-4C4F-7805-A1DE0F70E611}" v="2556" dt="2020-11-10T01:13:41.8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11-07T08:20:27.701" idx="1">
    <p:pos x="10" y="10"/>
    <p:text>Chinese keywords search as the researcher suggested those characters might be the daily conversation word, such as brand or name in Chinese
</p:text>
    <p:extLst>
      <p:ext uri="{C676402C-5697-4E1C-873F-D02D1690AC5C}">
        <p15:threadingInfo xmlns:p15="http://schemas.microsoft.com/office/powerpoint/2012/main" timeZoneBias="480"/>
      </p:ext>
    </p:extLst>
  </p:cm>
  <p:cm authorId="1" dt="2020-11-07T08:21:32.468" idx="2">
    <p:pos x="106" y="106"/>
    <p:text>total 15 raw data csv files, each of the file contains 15000 tweets, which are collected from 03/11/2019 to 20/11/2019.
</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0-11-07T08:41:40.089" idx="3">
    <p:pos x="3840" y="2288"/>
    <p:text>The first round of the keyword search would aim to sort out the data which is related to Hong Kong situation, we will generate it by using some keywords, such as #HongKong, #HK, #HKSAR, #hk, etc
</p:text>
    <p:extLst>
      <p:ext uri="{C676402C-5697-4E1C-873F-D02D1690AC5C}">
        <p15:threadingInfo xmlns:p15="http://schemas.microsoft.com/office/powerpoint/2012/main" timeZoneBias="480"/>
      </p:ext>
    </p:extLst>
  </p:cm>
  <p:cm authorId="1" dt="2020-11-07T08:42:52.965" idx="4">
    <p:pos x="3544" y="2295"/>
    <p:text>The second round will generate a subset about the Hong Kong anti-extradition amendment bill movement in 2019
</p:text>
    <p:extLst>
      <p:ext uri="{C676402C-5697-4E1C-873F-D02D1690AC5C}">
        <p15:threadingInfo xmlns:p15="http://schemas.microsoft.com/office/powerpoint/2012/main" timeZoneBias="480"/>
      </p:ext>
    </p:extLst>
  </p:cm>
  <p:cm authorId="1" dt="2020-11-07T08:43:55.341" idx="5">
    <p:pos x="3334" y="2006"/>
    <p:text>The temporal graph show the terms appear frequency
</p:text>
    <p:extLst>
      <p:ext uri="{C676402C-5697-4E1C-873F-D02D1690AC5C}">
        <p15:threadingInfo xmlns:p15="http://schemas.microsoft.com/office/powerpoint/2012/main" timeZoneBias="480"/>
      </p:ext>
    </p:extLst>
  </p:cm>
  <p:cm authorId="1" dt="2020-11-07T08:44:47.483" idx="6">
    <p:pos x="3652" y="1999"/>
    <p:text>relate each of the spikes to the social incident about the AEB movement that happened close to the time of the incident, in order to explain why the peaks were occurred at that time. 
</p:text>
    <p:extLst>
      <p:ext uri="{C676402C-5697-4E1C-873F-D02D1690AC5C}">
        <p15:threadingInfo xmlns:p15="http://schemas.microsoft.com/office/powerpoint/2012/main" timeZoneBias="4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0-11-07T08:57:07.091" idx="7">
    <p:pos x="6810" y="1342"/>
    <p:text>We will apply Library, which are used to determine the sentence is positive, negative or neutral by returning four different score with the range of -1 to1 separately
</p:text>
    <p:extLst>
      <p:ext uri="{C676402C-5697-4E1C-873F-D02D1690AC5C}">
        <p15:threadingInfo xmlns:p15="http://schemas.microsoft.com/office/powerpoint/2012/main" timeZoneBias="480"/>
      </p:ext>
    </p:extLst>
  </p:cm>
  <p:cm authorId="1" dt="2020-11-07T08:57:10.669" idx="8">
    <p:pos x="6906" y="1438"/>
    <p:text>we only need to consider the user’s attitude toward the incident, so we may divide it into 3 cluster roughly, -1 to -0.33 is negative, -0.33 to 0.33 is neutral, 0.33 to 1 is positive.
</p:text>
    <p:extLst>
      <p:ext uri="{C676402C-5697-4E1C-873F-D02D1690AC5C}">
        <p15:threadingInfo xmlns:p15="http://schemas.microsoft.com/office/powerpoint/2012/main" timeZoneBias="480"/>
      </p:ext>
    </p:extLst>
  </p:cm>
</p:cmLst>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11/10/2020</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24888406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551435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834541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11/10/2020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9935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11/10/2020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63604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11/10/2020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259474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11/10/2020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342918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062346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020327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896505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383964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TextBox 11"/>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3" name="TextBox 12"/>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6418427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577324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771894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5564458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0797326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507206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11/10/2020</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4093719690"/>
      </p:ext>
    </p:extLst>
  </p:cSld>
  <p:clrMap bg1="dk1" tx1="lt1" bg2="dk2" tx2="lt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 id="2147483804" r:id="rId15"/>
    <p:sldLayoutId id="2147483805" r:id="rId16"/>
    <p:sldLayoutId id="2147483806"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2" name="Rectangle 8">
            <a:extLst>
              <a:ext uri="{FF2B5EF4-FFF2-40B4-BE49-F238E27FC236}">
                <a16:creationId xmlns:a16="http://schemas.microsoft.com/office/drawing/2014/main" id="{E149D2E3-EBEF-4B98-A93E-5426572364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62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0">
            <a:extLst>
              <a:ext uri="{FF2B5EF4-FFF2-40B4-BE49-F238E27FC236}">
                <a16:creationId xmlns:a16="http://schemas.microsoft.com/office/drawing/2014/main" id="{D8B969F1-53DA-4893-971E-DA220FD1338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51000"/>
            <a:extLst>
              <a:ext uri="{28A0092B-C50C-407E-A947-70E740481C1C}">
                <a14:useLocalDpi xmlns:a14="http://schemas.microsoft.com/office/drawing/2010/main" val="0"/>
              </a:ext>
            </a:extLst>
          </a:blip>
          <a:stretch>
            <a:fillRect/>
          </a:stretch>
        </p:blipFill>
        <p:spPr>
          <a:xfrm>
            <a:off x="0" y="1786"/>
            <a:ext cx="12188825" cy="6856214"/>
          </a:xfrm>
          <a:prstGeom prst="rect">
            <a:avLst/>
          </a:prstGeom>
        </p:spPr>
      </p:pic>
      <p:pic>
        <p:nvPicPr>
          <p:cNvPr id="4" name="Picture 3">
            <a:extLst>
              <a:ext uri="{FF2B5EF4-FFF2-40B4-BE49-F238E27FC236}">
                <a16:creationId xmlns:a16="http://schemas.microsoft.com/office/drawing/2014/main" id="{3BB90CDC-98E7-42D1-A685-91B1C958EF2A}"/>
              </a:ext>
            </a:extLst>
          </p:cNvPr>
          <p:cNvPicPr>
            <a:picLocks noChangeAspect="1"/>
          </p:cNvPicPr>
          <p:nvPr/>
        </p:nvPicPr>
        <p:blipFill rotWithShape="1">
          <a:blip r:embed="rId4">
            <a:alphaModFix amt="20000"/>
          </a:blip>
          <a:srcRect t="14714" b="1017"/>
          <a:stretch/>
        </p:blipFill>
        <p:spPr>
          <a:xfrm>
            <a:off x="1111" y="-2016"/>
            <a:ext cx="12191980" cy="6857990"/>
          </a:xfrm>
          <a:prstGeom prst="rect">
            <a:avLst/>
          </a:prstGeom>
        </p:spPr>
      </p:pic>
      <p:sp>
        <p:nvSpPr>
          <p:cNvPr id="15" name="Rectangle 12">
            <a:extLst>
              <a:ext uri="{FF2B5EF4-FFF2-40B4-BE49-F238E27FC236}">
                <a16:creationId xmlns:a16="http://schemas.microsoft.com/office/drawing/2014/main" id="{03B3C2AB-226A-4CB2-A86D-07FC605C3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912" y="2125133"/>
            <a:ext cx="8736013" cy="2607734"/>
          </a:xfrm>
          <a:prstGeom prst="rect">
            <a:avLst/>
          </a:prstGeom>
          <a:solidFill>
            <a:schemeClr val="bg1">
              <a:alpha val="35000"/>
            </a:schemeClr>
          </a:solid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solidFill>
                <a:schemeClr val="tx1"/>
              </a:solidFill>
            </a:endParaRPr>
          </a:p>
        </p:txBody>
      </p:sp>
      <p:sp>
        <p:nvSpPr>
          <p:cNvPr id="2" name="Title 1"/>
          <p:cNvSpPr>
            <a:spLocks noGrp="1"/>
          </p:cNvSpPr>
          <p:nvPr>
            <p:ph type="ctrTitle"/>
          </p:nvPr>
        </p:nvSpPr>
        <p:spPr>
          <a:xfrm>
            <a:off x="1922991" y="2298700"/>
            <a:ext cx="8347076" cy="1595952"/>
          </a:xfrm>
        </p:spPr>
        <p:txBody>
          <a:bodyPr>
            <a:normAutofit fontScale="90000"/>
          </a:bodyPr>
          <a:lstStyle/>
          <a:p>
            <a:pPr algn="ctr">
              <a:lnSpc>
                <a:spcPct val="90000"/>
              </a:lnSpc>
            </a:pPr>
            <a:br>
              <a:rPr lang="en-US" sz="2600">
                <a:cs typeface="Calibri Light"/>
              </a:rPr>
            </a:br>
            <a:r>
              <a:rPr lang="en-US" sz="2600">
                <a:cs typeface="Calibri Light"/>
              </a:rPr>
              <a:t>SOSC 4300 Literature Review</a:t>
            </a:r>
            <a:br>
              <a:rPr lang="en-US" sz="2600">
                <a:cs typeface="Calibri Light"/>
              </a:rPr>
            </a:br>
            <a:r>
              <a:rPr lang="en-US" sz="2600">
                <a:ea typeface="+mj-lt"/>
                <a:cs typeface="+mj-lt"/>
              </a:rPr>
              <a:t>How social media captures the evolvement of social movement</a:t>
            </a:r>
            <a:br>
              <a:rPr lang="en-US" sz="2600">
                <a:cs typeface="Calibri Light"/>
              </a:rPr>
            </a:br>
            <a:r>
              <a:rPr lang="en-US" sz="2600">
                <a:cs typeface="Calibri Light"/>
              </a:rPr>
              <a:t>Group: idk-lol</a:t>
            </a:r>
            <a:br>
              <a:rPr lang="en-US" sz="2600">
                <a:ln>
                  <a:solidFill>
                    <a:srgbClr val="000000">
                      <a:lumMod val="75000"/>
                      <a:lumOff val="25000"/>
                      <a:alpha val="10000"/>
                    </a:srgbClr>
                  </a:solidFill>
                </a:ln>
                <a:effectLst>
                  <a:outerShdw blurRad="9525" dist="25400" dir="14640000" algn="tl" rotWithShape="0">
                    <a:srgbClr val="000000">
                      <a:alpha val="30000"/>
                    </a:srgbClr>
                  </a:outerShdw>
                </a:effectLst>
                <a:cs typeface="Calibri Light"/>
              </a:rPr>
            </a:br>
            <a:endParaRPr lang="en-US" sz="2600">
              <a:ln>
                <a:solidFill>
                  <a:srgbClr val="000000">
                    <a:lumMod val="75000"/>
                    <a:lumOff val="25000"/>
                    <a:alpha val="10000"/>
                  </a:srgbClr>
                </a:solidFill>
              </a:ln>
              <a:effectLst>
                <a:outerShdw blurRad="9525" dist="25400" dir="14640000" algn="tl" rotWithShape="0">
                  <a:srgbClr val="000000">
                    <a:alpha val="30000"/>
                  </a:srgbClr>
                </a:outerShdw>
              </a:effectLst>
              <a:cs typeface="Calibri Light"/>
            </a:endParaRPr>
          </a:p>
        </p:txBody>
      </p:sp>
      <p:sp>
        <p:nvSpPr>
          <p:cNvPr id="3" name="Subtitle 2"/>
          <p:cNvSpPr>
            <a:spLocks noGrp="1"/>
          </p:cNvSpPr>
          <p:nvPr>
            <p:ph type="subTitle" idx="1"/>
          </p:nvPr>
        </p:nvSpPr>
        <p:spPr>
          <a:xfrm>
            <a:off x="1918758" y="3905859"/>
            <a:ext cx="8333131" cy="821529"/>
          </a:xfrm>
        </p:spPr>
        <p:txBody>
          <a:bodyPr>
            <a:normAutofit/>
          </a:bodyPr>
          <a:lstStyle/>
          <a:p>
            <a:pPr algn="ctr"/>
            <a:r>
              <a:rPr lang="en-US">
                <a:cs typeface="Calibri"/>
              </a:rPr>
              <a:t>Lam Hoi San 20506775   Tin man sing 20521256</a:t>
            </a:r>
            <a:endParaRPr lang="en-US"/>
          </a:p>
          <a:p>
            <a:pPr algn="ctr"/>
            <a:r>
              <a:rPr lang="en-US">
                <a:cs typeface="Calibri"/>
              </a:rPr>
              <a:t>LEUNG MAN CHOI 20521189   Au-Yeung Tsz Wai  20520460</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B6631-0CDC-496D-BFC6-00649836CDB3}"/>
              </a:ext>
            </a:extLst>
          </p:cNvPr>
          <p:cNvSpPr>
            <a:spLocks noGrp="1"/>
          </p:cNvSpPr>
          <p:nvPr>
            <p:ph type="title"/>
          </p:nvPr>
        </p:nvSpPr>
        <p:spPr/>
        <p:txBody>
          <a:bodyPr/>
          <a:lstStyle/>
          <a:p>
            <a:r>
              <a:rPr lang="en-US">
                <a:cs typeface="Calibri Light"/>
              </a:rPr>
              <a:t>Introduction</a:t>
            </a:r>
            <a:endParaRPr lang="en-US"/>
          </a:p>
        </p:txBody>
      </p:sp>
      <p:sp>
        <p:nvSpPr>
          <p:cNvPr id="3" name="Content Placeholder 2">
            <a:extLst>
              <a:ext uri="{FF2B5EF4-FFF2-40B4-BE49-F238E27FC236}">
                <a16:creationId xmlns:a16="http://schemas.microsoft.com/office/drawing/2014/main" id="{F272A8AC-2703-4C2B-ACC8-DBA3F6A82F7F}"/>
              </a:ext>
            </a:extLst>
          </p:cNvPr>
          <p:cNvSpPr>
            <a:spLocks noGrp="1"/>
          </p:cNvSpPr>
          <p:nvPr>
            <p:ph idx="1"/>
          </p:nvPr>
        </p:nvSpPr>
        <p:spPr>
          <a:xfrm>
            <a:off x="685801" y="1797602"/>
            <a:ext cx="10131425" cy="4494639"/>
          </a:xfrm>
        </p:spPr>
        <p:txBody>
          <a:bodyPr/>
          <a:lstStyle/>
          <a:p>
            <a:r>
              <a:rPr lang="en-US" sz="2600">
                <a:cs typeface="Calibri"/>
              </a:rPr>
              <a:t>Social Media and Social Movement</a:t>
            </a:r>
          </a:p>
          <a:p>
            <a:pPr>
              <a:buClr>
                <a:srgbClr val="FFFFFF"/>
              </a:buClr>
            </a:pPr>
            <a:r>
              <a:rPr lang="en-US" sz="2600">
                <a:cs typeface="Calibri"/>
              </a:rPr>
              <a:t>4 main uses of social media (Lynch, 2011; Hussain &amp; Howard, 2011):</a:t>
            </a:r>
          </a:p>
          <a:p>
            <a:pPr lvl="1">
              <a:buClr>
                <a:srgbClr val="FFFFFF"/>
              </a:buClr>
            </a:pPr>
            <a:r>
              <a:rPr lang="en-US" sz="2600">
                <a:cs typeface="Calibri"/>
              </a:rPr>
              <a:t>1) Organizing and coordinating events</a:t>
            </a:r>
          </a:p>
          <a:p>
            <a:pPr lvl="1">
              <a:buClr>
                <a:srgbClr val="FFFFFF"/>
              </a:buClr>
            </a:pPr>
            <a:r>
              <a:rPr lang="en-US" sz="2600">
                <a:cs typeface="Calibri"/>
              </a:rPr>
              <a:t>2) Creating an information flow among participant and the public</a:t>
            </a:r>
          </a:p>
          <a:p>
            <a:pPr lvl="1">
              <a:buClr>
                <a:srgbClr val="FFFFFF"/>
              </a:buClr>
            </a:pPr>
            <a:r>
              <a:rPr lang="en-US" sz="2600">
                <a:cs typeface="Calibri"/>
              </a:rPr>
              <a:t>3) Connect and mobilize protestors</a:t>
            </a:r>
          </a:p>
          <a:p>
            <a:pPr lvl="1">
              <a:buClr>
                <a:srgbClr val="FFFFFF"/>
              </a:buClr>
            </a:pPr>
            <a:r>
              <a:rPr lang="en-US" sz="2600">
                <a:cs typeface="Calibri"/>
              </a:rPr>
              <a:t>4) Share grievances and online community against regime</a:t>
            </a:r>
          </a:p>
        </p:txBody>
      </p:sp>
    </p:spTree>
    <p:extLst>
      <p:ext uri="{BB962C8B-B14F-4D97-AF65-F5344CB8AC3E}">
        <p14:creationId xmlns:p14="http://schemas.microsoft.com/office/powerpoint/2010/main" val="2773118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94422-1575-420D-9614-E9F8FE8DFB8D}"/>
              </a:ext>
            </a:extLst>
          </p:cNvPr>
          <p:cNvSpPr>
            <a:spLocks noGrp="1"/>
          </p:cNvSpPr>
          <p:nvPr>
            <p:ph type="title"/>
          </p:nvPr>
        </p:nvSpPr>
        <p:spPr/>
        <p:txBody>
          <a:bodyPr/>
          <a:lstStyle/>
          <a:p>
            <a:r>
              <a:rPr lang="en-US">
                <a:cs typeface="Calibri Light"/>
              </a:rPr>
              <a:t>Introduction</a:t>
            </a:r>
            <a:endParaRPr lang="en-US"/>
          </a:p>
        </p:txBody>
      </p:sp>
      <p:sp>
        <p:nvSpPr>
          <p:cNvPr id="3" name="Content Placeholder 2">
            <a:extLst>
              <a:ext uri="{FF2B5EF4-FFF2-40B4-BE49-F238E27FC236}">
                <a16:creationId xmlns:a16="http://schemas.microsoft.com/office/drawing/2014/main" id="{A43EAC73-F38E-47A7-9E9A-C4707D375717}"/>
              </a:ext>
            </a:extLst>
          </p:cNvPr>
          <p:cNvSpPr>
            <a:spLocks noGrp="1"/>
          </p:cNvSpPr>
          <p:nvPr>
            <p:ph idx="1"/>
          </p:nvPr>
        </p:nvSpPr>
        <p:spPr>
          <a:xfrm>
            <a:off x="268266" y="2068999"/>
            <a:ext cx="11446657" cy="4630337"/>
          </a:xfrm>
        </p:spPr>
        <p:txBody>
          <a:bodyPr>
            <a:normAutofit/>
          </a:bodyPr>
          <a:lstStyle/>
          <a:p>
            <a:r>
              <a:rPr lang="en-US" sz="2600">
                <a:cs typeface="Calibri"/>
              </a:rPr>
              <a:t>Traditional Method: Survey and Interview</a:t>
            </a:r>
          </a:p>
          <a:p>
            <a:pPr>
              <a:buClr>
                <a:srgbClr val="FFFFFF"/>
              </a:buClr>
            </a:pPr>
            <a:r>
              <a:rPr lang="en-US" sz="2600">
                <a:cs typeface="Calibri"/>
              </a:rPr>
              <a:t>Shen,</a:t>
            </a:r>
            <a:r>
              <a:rPr lang="en-US" altLang="ja-JP" sz="2600">
                <a:ea typeface="ＭＳ Ｐゴシック"/>
                <a:cs typeface="Calibri"/>
              </a:rPr>
              <a:t> Xia &amp; Skoric (2020): survey of university students during occupy central</a:t>
            </a:r>
            <a:endParaRPr lang="ja-JP" altLang="en-US" sz="2600">
              <a:ea typeface="ＭＳ Ｐゴシック"/>
              <a:cs typeface="Calibri"/>
            </a:endParaRPr>
          </a:p>
          <a:p>
            <a:pPr lvl="1">
              <a:buClr>
                <a:srgbClr val="FFFFFF"/>
              </a:buClr>
            </a:pPr>
            <a:r>
              <a:rPr lang="en-US" altLang="ja-JP" sz="2600">
                <a:ea typeface="ＭＳ Ｐゴシック"/>
                <a:cs typeface="Calibri"/>
              </a:rPr>
              <a:t>How social media affects social movement participation and political attitude</a:t>
            </a:r>
          </a:p>
          <a:p>
            <a:pPr lvl="1">
              <a:buClr>
                <a:srgbClr val="FFFFFF"/>
              </a:buClr>
            </a:pPr>
            <a:r>
              <a:rPr lang="en-US" altLang="ja-JP" sz="2600">
                <a:ea typeface="ＭＳ Ｐゴシック"/>
                <a:cs typeface="Calibri"/>
              </a:rPr>
              <a:t>Quota sampling [n = 769] </a:t>
            </a:r>
          </a:p>
          <a:p>
            <a:pPr>
              <a:buClr>
                <a:srgbClr val="FFFFFF"/>
              </a:buClr>
            </a:pPr>
            <a:r>
              <a:rPr lang="en-US" sz="2600">
                <a:cs typeface="Calibri"/>
              </a:rPr>
              <a:t>Chu(2018): interview secondary school students </a:t>
            </a:r>
          </a:p>
          <a:p>
            <a:pPr lvl="1">
              <a:buClr>
                <a:srgbClr val="FFFFFF"/>
              </a:buClr>
            </a:pPr>
            <a:r>
              <a:rPr lang="en-US" sz="2600">
                <a:cs typeface="Calibri"/>
              </a:rPr>
              <a:t>How social media impact the participatory level of occupy central movement</a:t>
            </a:r>
          </a:p>
          <a:p>
            <a:pPr lvl="1">
              <a:buClr>
                <a:srgbClr val="FFFFFF"/>
              </a:buClr>
            </a:pPr>
            <a:r>
              <a:rPr lang="en-US" sz="2600">
                <a:cs typeface="Calibri"/>
              </a:rPr>
              <a:t>Interview conducted after the movement ends (early 2015) [n = 14]</a:t>
            </a:r>
          </a:p>
          <a:p>
            <a:pPr lvl="1">
              <a:buClr>
                <a:srgbClr val="FFFFFF"/>
              </a:buClr>
            </a:pPr>
            <a:endParaRPr lang="en-US" sz="2400">
              <a:cs typeface="Calibri"/>
            </a:endParaRPr>
          </a:p>
        </p:txBody>
      </p:sp>
    </p:spTree>
    <p:extLst>
      <p:ext uri="{BB962C8B-B14F-4D97-AF65-F5344CB8AC3E}">
        <p14:creationId xmlns:p14="http://schemas.microsoft.com/office/powerpoint/2010/main" val="2838847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97669-B904-4ADA-952C-65BD017D6C2A}"/>
              </a:ext>
            </a:extLst>
          </p:cNvPr>
          <p:cNvSpPr>
            <a:spLocks noGrp="1"/>
          </p:cNvSpPr>
          <p:nvPr>
            <p:ph type="title"/>
          </p:nvPr>
        </p:nvSpPr>
        <p:spPr/>
        <p:txBody>
          <a:bodyPr/>
          <a:lstStyle/>
          <a:p>
            <a:r>
              <a:rPr lang="en-US">
                <a:cs typeface="Calibri Light"/>
              </a:rPr>
              <a:t>Background</a:t>
            </a:r>
            <a:endParaRPr lang="en-US" err="1"/>
          </a:p>
        </p:txBody>
      </p:sp>
      <p:sp>
        <p:nvSpPr>
          <p:cNvPr id="3" name="Content Placeholder 2">
            <a:extLst>
              <a:ext uri="{FF2B5EF4-FFF2-40B4-BE49-F238E27FC236}">
                <a16:creationId xmlns:a16="http://schemas.microsoft.com/office/drawing/2014/main" id="{5058323B-28A3-48A6-9BAA-D8CB18ADA5AC}"/>
              </a:ext>
            </a:extLst>
          </p:cNvPr>
          <p:cNvSpPr>
            <a:spLocks noGrp="1"/>
          </p:cNvSpPr>
          <p:nvPr>
            <p:ph idx="1"/>
          </p:nvPr>
        </p:nvSpPr>
        <p:spPr>
          <a:xfrm>
            <a:off x="362211" y="2246450"/>
            <a:ext cx="10455015" cy="4004038"/>
          </a:xfrm>
        </p:spPr>
        <p:txBody>
          <a:bodyPr/>
          <a:lstStyle/>
          <a:p>
            <a:r>
              <a:rPr lang="en-US" sz="2800">
                <a:cs typeface="Calibri"/>
              </a:rPr>
              <a:t>Limitations in the traditional method: </a:t>
            </a:r>
          </a:p>
          <a:p>
            <a:pPr lvl="1">
              <a:buClr>
                <a:srgbClr val="FFFFFF"/>
              </a:buClr>
            </a:pPr>
            <a:r>
              <a:rPr lang="en-US" sz="2600">
                <a:cs typeface="Calibri"/>
              </a:rPr>
              <a:t>1) </a:t>
            </a:r>
            <a:r>
              <a:rPr lang="en-US" altLang="ja-JP" sz="2600">
                <a:ea typeface="ＭＳ Ｐゴシック"/>
                <a:cs typeface="Calibri"/>
              </a:rPr>
              <a:t>Limited sample size               low representativeness</a:t>
            </a:r>
            <a:endParaRPr lang="ja-JP" altLang="en-US" sz="2600">
              <a:ea typeface="ＭＳ Ｐゴシック"/>
              <a:cs typeface="Calibri"/>
            </a:endParaRPr>
          </a:p>
          <a:p>
            <a:pPr lvl="1">
              <a:buClr>
                <a:srgbClr val="FFFFFF"/>
              </a:buClr>
            </a:pPr>
            <a:r>
              <a:rPr lang="en-US" altLang="ja-JP" sz="2600">
                <a:ea typeface="ＭＳ Ｐゴシック"/>
                <a:cs typeface="Calibri"/>
              </a:rPr>
              <a:t>2) Interaction among participants, activists and public remain unclear </a:t>
            </a:r>
          </a:p>
          <a:p>
            <a:pPr lvl="1">
              <a:buClr>
                <a:srgbClr val="FFFFFF"/>
              </a:buClr>
            </a:pPr>
            <a:r>
              <a:rPr lang="en-US" altLang="ja-JP" sz="2600">
                <a:ea typeface="ＭＳ Ｐゴシック"/>
                <a:cs typeface="Calibri"/>
              </a:rPr>
              <a:t>3) Focus on the post social movement attitude</a:t>
            </a:r>
            <a:endParaRPr lang="en-US"/>
          </a:p>
          <a:p>
            <a:pPr lvl="1">
              <a:buClr>
                <a:srgbClr val="FFFFFF"/>
              </a:buClr>
            </a:pPr>
            <a:r>
              <a:rPr lang="en-US" altLang="ja-JP" sz="2600">
                <a:ea typeface="ＭＳ Ｐゴシック"/>
                <a:cs typeface="Calibri" panose="020F0502020204030204"/>
              </a:rPr>
              <a:t>4) Fails to capture the trend during social movement</a:t>
            </a:r>
          </a:p>
          <a:p>
            <a:pPr lvl="1">
              <a:buClr>
                <a:srgbClr val="FFFFFF"/>
              </a:buClr>
            </a:pPr>
            <a:endParaRPr lang="en-US" altLang="ja-JP" sz="2600">
              <a:ea typeface="ＭＳ Ｐゴシック"/>
              <a:cs typeface="Calibri" panose="020F0502020204030204"/>
            </a:endParaRPr>
          </a:p>
          <a:p>
            <a:pPr lvl="1">
              <a:buClr>
                <a:srgbClr val="FFFFFF"/>
              </a:buClr>
            </a:pPr>
            <a:endParaRPr lang="en-US">
              <a:ea typeface="ＭＳ Ｐゴシック"/>
              <a:cs typeface="Calibri"/>
            </a:endParaRPr>
          </a:p>
        </p:txBody>
      </p:sp>
      <p:pic>
        <p:nvPicPr>
          <p:cNvPr id="4" name="Graphic 4" descr="Arrow Right">
            <a:extLst>
              <a:ext uri="{FF2B5EF4-FFF2-40B4-BE49-F238E27FC236}">
                <a16:creationId xmlns:a16="http://schemas.microsoft.com/office/drawing/2014/main" id="{33D01BD2-A678-440B-A73E-58D5F2D577A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23568" y="2950922"/>
            <a:ext cx="726510" cy="726510"/>
          </a:xfrm>
          <a:prstGeom prst="rect">
            <a:avLst/>
          </a:prstGeom>
        </p:spPr>
      </p:pic>
    </p:spTree>
    <p:extLst>
      <p:ext uri="{BB962C8B-B14F-4D97-AF65-F5344CB8AC3E}">
        <p14:creationId xmlns:p14="http://schemas.microsoft.com/office/powerpoint/2010/main" val="2227218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8F4C6-A5E0-4942-85B9-CE4320772ED0}"/>
              </a:ext>
            </a:extLst>
          </p:cNvPr>
          <p:cNvSpPr>
            <a:spLocks noGrp="1"/>
          </p:cNvSpPr>
          <p:nvPr>
            <p:ph type="title"/>
          </p:nvPr>
        </p:nvSpPr>
        <p:spPr/>
        <p:txBody>
          <a:bodyPr/>
          <a:lstStyle/>
          <a:p>
            <a:r>
              <a:rPr lang="en-US">
                <a:cs typeface="Calibri Light"/>
              </a:rPr>
              <a:t>Importance </a:t>
            </a:r>
          </a:p>
        </p:txBody>
      </p:sp>
      <p:sp>
        <p:nvSpPr>
          <p:cNvPr id="3" name="Content Placeholder 2">
            <a:extLst>
              <a:ext uri="{FF2B5EF4-FFF2-40B4-BE49-F238E27FC236}">
                <a16:creationId xmlns:a16="http://schemas.microsoft.com/office/drawing/2014/main" id="{CCB19336-72A3-4D3A-A0F8-ED0018BA6546}"/>
              </a:ext>
            </a:extLst>
          </p:cNvPr>
          <p:cNvSpPr>
            <a:spLocks noGrp="1"/>
          </p:cNvSpPr>
          <p:nvPr>
            <p:ph idx="1"/>
          </p:nvPr>
        </p:nvSpPr>
        <p:spPr>
          <a:xfrm>
            <a:off x="685801" y="1922862"/>
            <a:ext cx="10131425" cy="3868338"/>
          </a:xfrm>
        </p:spPr>
        <p:txBody>
          <a:bodyPr>
            <a:normAutofit/>
          </a:bodyPr>
          <a:lstStyle/>
          <a:p>
            <a:r>
              <a:rPr lang="en-US" sz="2600">
                <a:cs typeface="Calibri"/>
              </a:rPr>
              <a:t>The Big-data/computational approach offers...</a:t>
            </a:r>
          </a:p>
          <a:p>
            <a:pPr lvl="1" indent="0">
              <a:buClr>
                <a:srgbClr val="FFFFFF"/>
              </a:buClr>
            </a:pPr>
            <a:r>
              <a:rPr lang="en-US" sz="2600">
                <a:cs typeface="Calibri"/>
              </a:rPr>
              <a:t>Sentiment and content analysis of the posts in social media</a:t>
            </a:r>
          </a:p>
          <a:p>
            <a:pPr lvl="1" indent="0">
              <a:buClr>
                <a:srgbClr val="FFFFFF"/>
              </a:buClr>
            </a:pPr>
            <a:r>
              <a:rPr lang="en-US" sz="2600">
                <a:cs typeface="Calibri"/>
              </a:rPr>
              <a:t>Follow the trends of hashtag/ topics </a:t>
            </a:r>
          </a:p>
          <a:p>
            <a:pPr lvl="1" indent="0">
              <a:buClr>
                <a:srgbClr val="FFFFFF"/>
              </a:buClr>
            </a:pPr>
            <a:r>
              <a:rPr lang="en-US" sz="2600">
                <a:cs typeface="Calibri"/>
              </a:rPr>
              <a:t>Social Network Analysis to study the information flow</a:t>
            </a:r>
          </a:p>
          <a:p>
            <a:pPr lvl="1" indent="0">
              <a:buClr>
                <a:srgbClr val="FFFFFF"/>
              </a:buClr>
            </a:pPr>
            <a:endParaRPr lang="en-US" sz="2600">
              <a:cs typeface="Calibri"/>
            </a:endParaRPr>
          </a:p>
          <a:p>
            <a:pPr lvl="1" indent="0">
              <a:buClr>
                <a:srgbClr val="FFFFFF"/>
              </a:buClr>
            </a:pPr>
            <a:endParaRPr lang="en-US" sz="2200">
              <a:cs typeface="Calibri"/>
            </a:endParaRPr>
          </a:p>
          <a:p>
            <a:pPr lvl="1" indent="0">
              <a:buClr>
                <a:srgbClr val="FFFFFF"/>
              </a:buClr>
            </a:pPr>
            <a:endParaRPr lang="en-US" sz="2200">
              <a:cs typeface="Calibri"/>
            </a:endParaRPr>
          </a:p>
          <a:p>
            <a:pPr>
              <a:buClr>
                <a:srgbClr val="FFFFFF"/>
              </a:buClr>
            </a:pPr>
            <a:endParaRPr lang="en-US" sz="2400">
              <a:cs typeface="Calibri"/>
            </a:endParaRPr>
          </a:p>
        </p:txBody>
      </p:sp>
    </p:spTree>
    <p:extLst>
      <p:ext uri="{BB962C8B-B14F-4D97-AF65-F5344CB8AC3E}">
        <p14:creationId xmlns:p14="http://schemas.microsoft.com/office/powerpoint/2010/main" val="2053507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A6089-E115-4EE4-8D5A-1E83D99EBEAE}"/>
              </a:ext>
            </a:extLst>
          </p:cNvPr>
          <p:cNvSpPr>
            <a:spLocks noGrp="1"/>
          </p:cNvSpPr>
          <p:nvPr>
            <p:ph type="title"/>
          </p:nvPr>
        </p:nvSpPr>
        <p:spPr>
          <a:xfrm>
            <a:off x="685801" y="633413"/>
            <a:ext cx="10131425" cy="1670579"/>
          </a:xfrm>
        </p:spPr>
        <p:txBody>
          <a:bodyPr vert="horz" lIns="91440" tIns="45720" rIns="91440" bIns="45720" rtlCol="0" anchor="ctr">
            <a:noAutofit/>
          </a:bodyPr>
          <a:lstStyle/>
          <a:p>
            <a:r>
              <a:rPr lang="en-US" sz="2800" cap="none">
                <a:cs typeface="Calibri Light"/>
              </a:rPr>
              <a:t>Literature 1: hashtag activism and message frames among social movement organizations: semantic network analysis and thematic analysis of twitter during the #metoo movement (Xiong, Cho &amp; Boatwright, 2019)</a:t>
            </a:r>
            <a:endParaRPr lang="en-US" sz="2800" cap="none"/>
          </a:p>
          <a:p>
            <a:endParaRPr lang="en-US">
              <a:cs typeface="Calibri Light"/>
            </a:endParaRPr>
          </a:p>
        </p:txBody>
      </p:sp>
      <p:pic>
        <p:nvPicPr>
          <p:cNvPr id="4" name="Picture 4" descr="A picture containing map&#10;&#10;Description automatically generated">
            <a:extLst>
              <a:ext uri="{FF2B5EF4-FFF2-40B4-BE49-F238E27FC236}">
                <a16:creationId xmlns:a16="http://schemas.microsoft.com/office/drawing/2014/main" id="{B1E20900-8BEB-4D4B-BC1F-E5E5CBD51BFC}"/>
              </a:ext>
            </a:extLst>
          </p:cNvPr>
          <p:cNvPicPr>
            <a:picLocks noGrp="1" noChangeAspect="1"/>
          </p:cNvPicPr>
          <p:nvPr>
            <p:ph idx="1"/>
          </p:nvPr>
        </p:nvPicPr>
        <p:blipFill>
          <a:blip r:embed="rId2"/>
          <a:stretch>
            <a:fillRect/>
          </a:stretch>
        </p:blipFill>
        <p:spPr>
          <a:xfrm>
            <a:off x="6649402" y="3563966"/>
            <a:ext cx="5538311" cy="3291946"/>
          </a:xfrm>
        </p:spPr>
      </p:pic>
      <p:sp>
        <p:nvSpPr>
          <p:cNvPr id="5" name="TextBox 4">
            <a:extLst>
              <a:ext uri="{FF2B5EF4-FFF2-40B4-BE49-F238E27FC236}">
                <a16:creationId xmlns:a16="http://schemas.microsoft.com/office/drawing/2014/main" id="{0EC96F92-A4FB-496F-8A21-21AC05067842}"/>
              </a:ext>
            </a:extLst>
          </p:cNvPr>
          <p:cNvSpPr txBox="1"/>
          <p:nvPr/>
        </p:nvSpPr>
        <p:spPr>
          <a:xfrm>
            <a:off x="319087" y="2307430"/>
            <a:ext cx="1117282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cs typeface="Calibri"/>
              </a:rPr>
              <a:t>Study the Tweets in the #Metoo movement</a:t>
            </a:r>
          </a:p>
          <a:p>
            <a:pPr marL="285750" indent="-285750">
              <a:buFont typeface="Arial"/>
              <a:buChar char="•"/>
            </a:pPr>
            <a:r>
              <a:rPr lang="en-US" sz="2400">
                <a:cs typeface="Calibri"/>
              </a:rPr>
              <a:t>Normalized degree centrality to study the prominence of words</a:t>
            </a:r>
          </a:p>
          <a:p>
            <a:pPr marL="285750" indent="-285750">
              <a:buFont typeface="Arial"/>
              <a:buChar char="•"/>
            </a:pPr>
            <a:r>
              <a:rPr lang="en-US" sz="2400">
                <a:cs typeface="Calibri"/>
              </a:rPr>
              <a:t>Number of # is not correlated with the "</a:t>
            </a:r>
            <a:r>
              <a:rPr lang="en-US" sz="2400" err="1">
                <a:cs typeface="Calibri"/>
              </a:rPr>
              <a:t>retweetability</a:t>
            </a:r>
            <a:r>
              <a:rPr lang="en-US" sz="2400">
                <a:cs typeface="Calibri"/>
              </a:rPr>
              <a:t>" of a post</a:t>
            </a:r>
          </a:p>
        </p:txBody>
      </p:sp>
    </p:spTree>
    <p:extLst>
      <p:ext uri="{BB962C8B-B14F-4D97-AF65-F5344CB8AC3E}">
        <p14:creationId xmlns:p14="http://schemas.microsoft.com/office/powerpoint/2010/main" val="2201553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15CF7-D967-47DB-80F3-6AB94866B9F2}"/>
              </a:ext>
            </a:extLst>
          </p:cNvPr>
          <p:cNvSpPr>
            <a:spLocks noGrp="1"/>
          </p:cNvSpPr>
          <p:nvPr>
            <p:ph type="title"/>
          </p:nvPr>
        </p:nvSpPr>
        <p:spPr>
          <a:xfrm>
            <a:off x="352426" y="490538"/>
            <a:ext cx="11274424" cy="1218142"/>
          </a:xfrm>
        </p:spPr>
        <p:txBody>
          <a:bodyPr vert="horz" lIns="91440" tIns="45720" rIns="91440" bIns="45720" rtlCol="0" anchor="ctr">
            <a:noAutofit/>
          </a:bodyPr>
          <a:lstStyle/>
          <a:p>
            <a:r>
              <a:rPr lang="en-US" sz="2400" cap="none">
                <a:cs typeface="Calibri Light"/>
              </a:rPr>
              <a:t>Literature 2: analyzing the impact of social media on social</a:t>
            </a:r>
          </a:p>
          <a:p>
            <a:r>
              <a:rPr lang="en-US" sz="2400" cap="none">
                <a:cs typeface="Calibri Light"/>
              </a:rPr>
              <a:t>movements: a computational study on twitter and the occupy wall street movement (Li, </a:t>
            </a:r>
            <a:r>
              <a:rPr lang="en-US" sz="2400" cap="none" err="1">
                <a:cs typeface="Calibri Light"/>
              </a:rPr>
              <a:t>Ponnam</a:t>
            </a:r>
            <a:r>
              <a:rPr lang="en-US" sz="2400" cap="none">
                <a:cs typeface="Calibri Light"/>
              </a:rPr>
              <a:t>, Gillham, Edwards &amp; Johnson, 2013).</a:t>
            </a:r>
            <a:endParaRPr lang="en-US" sz="2400" cap="none"/>
          </a:p>
          <a:p>
            <a:endParaRPr lang="en-US">
              <a:cs typeface="Calibri Light"/>
            </a:endParaRPr>
          </a:p>
        </p:txBody>
      </p:sp>
      <p:sp>
        <p:nvSpPr>
          <p:cNvPr id="3" name="Content Placeholder 2">
            <a:extLst>
              <a:ext uri="{FF2B5EF4-FFF2-40B4-BE49-F238E27FC236}">
                <a16:creationId xmlns:a16="http://schemas.microsoft.com/office/drawing/2014/main" id="{1BCB2258-B70F-4852-AEC3-471CD1203877}"/>
              </a:ext>
            </a:extLst>
          </p:cNvPr>
          <p:cNvSpPr>
            <a:spLocks noGrp="1"/>
          </p:cNvSpPr>
          <p:nvPr>
            <p:ph idx="1"/>
          </p:nvPr>
        </p:nvSpPr>
        <p:spPr>
          <a:xfrm>
            <a:off x="673895" y="2532527"/>
            <a:ext cx="10310018" cy="3685505"/>
          </a:xfrm>
        </p:spPr>
        <p:txBody>
          <a:bodyPr/>
          <a:lstStyle/>
          <a:p>
            <a:r>
              <a:rPr lang="en-US" sz="2400">
                <a:cs typeface="Calibri"/>
              </a:rPr>
              <a:t>Offered different directions in utilizing social media </a:t>
            </a:r>
          </a:p>
          <a:p>
            <a:pPr>
              <a:buClr>
                <a:srgbClr val="FFFFFF"/>
              </a:buClr>
            </a:pPr>
            <a:r>
              <a:rPr lang="en-US" sz="2400">
                <a:cs typeface="Calibri"/>
              </a:rPr>
              <a:t>Use the trend to predict an event </a:t>
            </a:r>
          </a:p>
          <a:p>
            <a:pPr>
              <a:buClr>
                <a:srgbClr val="FFFFFF"/>
              </a:buClr>
            </a:pPr>
            <a:r>
              <a:rPr lang="en-US" sz="2400">
                <a:cs typeface="Calibri"/>
              </a:rPr>
              <a:t>Associations of geographic distribution of accounts and the actual events</a:t>
            </a:r>
          </a:p>
          <a:p>
            <a:pPr>
              <a:buClr>
                <a:srgbClr val="FFFFFF"/>
              </a:buClr>
            </a:pPr>
            <a:r>
              <a:rPr lang="en-US" sz="2400">
                <a:cs typeface="Calibri"/>
              </a:rPr>
              <a:t>Textual and sentiment analysis to study the emotions conveyed in the posts</a:t>
            </a:r>
          </a:p>
          <a:p>
            <a:pPr>
              <a:buClr>
                <a:srgbClr val="FFFFFF"/>
              </a:buClr>
            </a:pPr>
            <a:endParaRPr lang="en-US" sz="2400">
              <a:cs typeface="Calibri"/>
            </a:endParaRPr>
          </a:p>
          <a:p>
            <a:pPr>
              <a:buClr>
                <a:srgbClr val="FFFFFF"/>
              </a:buClr>
            </a:pPr>
            <a:endParaRPr lang="en-US">
              <a:cs typeface="Calibri"/>
            </a:endParaRPr>
          </a:p>
          <a:p>
            <a:pPr>
              <a:buClr>
                <a:srgbClr val="FFFFFF"/>
              </a:buClr>
            </a:pPr>
            <a:endParaRPr lang="en-US">
              <a:cs typeface="Calibri"/>
            </a:endParaRPr>
          </a:p>
          <a:p>
            <a:pPr>
              <a:buClr>
                <a:srgbClr val="FFFFFF"/>
              </a:buClr>
            </a:pPr>
            <a:endParaRPr lang="en-US">
              <a:cs typeface="Calibri"/>
            </a:endParaRPr>
          </a:p>
          <a:p>
            <a:pPr>
              <a:buClr>
                <a:srgbClr val="FFFFFF"/>
              </a:buClr>
            </a:pPr>
            <a:endParaRPr lang="en-US">
              <a:cs typeface="Calibri"/>
            </a:endParaRPr>
          </a:p>
          <a:p>
            <a:pPr>
              <a:buClr>
                <a:srgbClr val="FFFFFF"/>
              </a:buClr>
            </a:pPr>
            <a:endParaRPr lang="en-US">
              <a:cs typeface="Calibri"/>
            </a:endParaRPr>
          </a:p>
          <a:p>
            <a:pPr>
              <a:buClr>
                <a:srgbClr val="FFFFFF"/>
              </a:buClr>
            </a:pPr>
            <a:endParaRPr lang="en-US">
              <a:cs typeface="Calibri"/>
            </a:endParaRPr>
          </a:p>
          <a:p>
            <a:pPr>
              <a:buClr>
                <a:srgbClr val="FFFFFF"/>
              </a:buClr>
            </a:pPr>
            <a:endParaRPr lang="en-US">
              <a:cs typeface="Calibri"/>
            </a:endParaRPr>
          </a:p>
        </p:txBody>
      </p:sp>
      <p:pic>
        <p:nvPicPr>
          <p:cNvPr id="5" name="Picture 5" descr="Chart, line chart&#10;&#10;Description automatically generated">
            <a:extLst>
              <a:ext uri="{FF2B5EF4-FFF2-40B4-BE49-F238E27FC236}">
                <a16:creationId xmlns:a16="http://schemas.microsoft.com/office/drawing/2014/main" id="{F6CF929C-1203-4D5F-A121-8F388FE18598}"/>
              </a:ext>
            </a:extLst>
          </p:cNvPr>
          <p:cNvPicPr>
            <a:picLocks noChangeAspect="1"/>
          </p:cNvPicPr>
          <p:nvPr/>
        </p:nvPicPr>
        <p:blipFill>
          <a:blip r:embed="rId2"/>
          <a:stretch>
            <a:fillRect/>
          </a:stretch>
        </p:blipFill>
        <p:spPr>
          <a:xfrm>
            <a:off x="5821242" y="4225074"/>
            <a:ext cx="6422232" cy="2637178"/>
          </a:xfrm>
          <a:prstGeom prst="rect">
            <a:avLst/>
          </a:prstGeom>
        </p:spPr>
      </p:pic>
      <p:pic>
        <p:nvPicPr>
          <p:cNvPr id="6" name="Picture 6" descr="Map&#10;&#10;Description automatically generated">
            <a:extLst>
              <a:ext uri="{FF2B5EF4-FFF2-40B4-BE49-F238E27FC236}">
                <a16:creationId xmlns:a16="http://schemas.microsoft.com/office/drawing/2014/main" id="{97D955D2-54A7-4E83-9403-0571F81DEFD6}"/>
              </a:ext>
            </a:extLst>
          </p:cNvPr>
          <p:cNvPicPr>
            <a:picLocks noChangeAspect="1"/>
          </p:cNvPicPr>
          <p:nvPr/>
        </p:nvPicPr>
        <p:blipFill>
          <a:blip r:embed="rId3"/>
          <a:stretch>
            <a:fillRect/>
          </a:stretch>
        </p:blipFill>
        <p:spPr>
          <a:xfrm>
            <a:off x="2593182" y="3731712"/>
            <a:ext cx="3231356" cy="3121231"/>
          </a:xfrm>
          <a:prstGeom prst="rect">
            <a:avLst/>
          </a:prstGeom>
        </p:spPr>
      </p:pic>
    </p:spTree>
    <p:extLst>
      <p:ext uri="{BB962C8B-B14F-4D97-AF65-F5344CB8AC3E}">
        <p14:creationId xmlns:p14="http://schemas.microsoft.com/office/powerpoint/2010/main" val="2892099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81E9B-483D-4A09-AA3A-A59FD64AB840}"/>
              </a:ext>
            </a:extLst>
          </p:cNvPr>
          <p:cNvSpPr>
            <a:spLocks noGrp="1"/>
          </p:cNvSpPr>
          <p:nvPr>
            <p:ph type="title"/>
          </p:nvPr>
        </p:nvSpPr>
        <p:spPr/>
        <p:txBody>
          <a:bodyPr>
            <a:noAutofit/>
          </a:bodyPr>
          <a:lstStyle/>
          <a:p>
            <a:r>
              <a:rPr lang="en-US" sz="2800" cap="none">
                <a:cs typeface="Calibri Light"/>
              </a:rPr>
              <a:t>Literature 3: </a:t>
            </a:r>
            <a:r>
              <a:rPr lang="en-US" sz="2800" cap="none">
                <a:ea typeface="+mj-lt"/>
                <a:cs typeface="+mj-lt"/>
              </a:rPr>
              <a:t>Big Data: Methodological Challenges and Approaches for Sociological Analysis</a:t>
            </a:r>
            <a:endParaRPr lang="en-US" sz="2800"/>
          </a:p>
        </p:txBody>
      </p:sp>
      <p:sp>
        <p:nvSpPr>
          <p:cNvPr id="3" name="Content Placeholder 2">
            <a:extLst>
              <a:ext uri="{FF2B5EF4-FFF2-40B4-BE49-F238E27FC236}">
                <a16:creationId xmlns:a16="http://schemas.microsoft.com/office/drawing/2014/main" id="{AA1D0D49-C560-4261-99EF-E7111FC15FEF}"/>
              </a:ext>
            </a:extLst>
          </p:cNvPr>
          <p:cNvSpPr>
            <a:spLocks noGrp="1"/>
          </p:cNvSpPr>
          <p:nvPr>
            <p:ph idx="1"/>
          </p:nvPr>
        </p:nvSpPr>
        <p:spPr>
          <a:xfrm>
            <a:off x="685801" y="2007596"/>
            <a:ext cx="10131425" cy="3593104"/>
          </a:xfrm>
        </p:spPr>
        <p:txBody>
          <a:bodyPr vert="horz" lIns="91440" tIns="45720" rIns="91440" bIns="45720" rtlCol="0" anchor="t">
            <a:normAutofit/>
          </a:bodyPr>
          <a:lstStyle/>
          <a:p>
            <a:pPr marL="0" indent="0">
              <a:buNone/>
            </a:pPr>
            <a:r>
              <a:rPr lang="en-US" sz="2000">
                <a:ea typeface="+mn-lt"/>
                <a:cs typeface="+mn-lt"/>
              </a:rPr>
              <a:t>- Analyze the Twitter data related to the protest on UK University fees</a:t>
            </a:r>
          </a:p>
          <a:p>
            <a:pPr marL="0" indent="0">
              <a:buNone/>
            </a:pPr>
            <a:r>
              <a:rPr lang="en-US" sz="2000">
                <a:cs typeface="Calibri" panose="020F0502020204030204"/>
              </a:rPr>
              <a:t>-</a:t>
            </a:r>
            <a:r>
              <a:rPr lang="en-US" sz="2000">
                <a:ea typeface="+mn-lt"/>
                <a:cs typeface="+mn-lt"/>
              </a:rPr>
              <a:t> Dynamic visualisation of the social network over time </a:t>
            </a:r>
          </a:p>
          <a:p>
            <a:pPr marL="0" indent="0">
              <a:buNone/>
            </a:pPr>
            <a:endParaRPr lang="en-US" sz="2000">
              <a:cs typeface="Calibri" panose="020F0502020204030204"/>
            </a:endParaRPr>
          </a:p>
          <a:p>
            <a:pPr marL="0" indent="0">
              <a:buNone/>
            </a:pPr>
            <a:endParaRPr lang="en-US" sz="2000">
              <a:cs typeface="Calibri" panose="020F0502020204030204"/>
            </a:endParaRPr>
          </a:p>
        </p:txBody>
      </p:sp>
      <p:sp>
        <p:nvSpPr>
          <p:cNvPr id="4" name="TextBox 3">
            <a:extLst>
              <a:ext uri="{FF2B5EF4-FFF2-40B4-BE49-F238E27FC236}">
                <a16:creationId xmlns:a16="http://schemas.microsoft.com/office/drawing/2014/main" id="{E1F60BB1-00D4-4CBC-8CD7-271A5BC97B9F}"/>
              </a:ext>
            </a:extLst>
          </p:cNvPr>
          <p:cNvSpPr txBox="1"/>
          <p:nvPr/>
        </p:nvSpPr>
        <p:spPr>
          <a:xfrm>
            <a:off x="623047" y="6057900"/>
            <a:ext cx="356122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err="1"/>
              <a:t>Tinata</a:t>
            </a:r>
            <a:r>
              <a:rPr lang="en-US" sz="1200"/>
              <a:t>, R., Halford S., </a:t>
            </a:r>
            <a:r>
              <a:rPr lang="en-US" sz="1200" err="1"/>
              <a:t>Carr</a:t>
            </a:r>
            <a:r>
              <a:rPr lang="en-US" sz="1200"/>
              <a:t> L., Pope C. (2014)</a:t>
            </a:r>
            <a:endParaRPr lang="en-US"/>
          </a:p>
        </p:txBody>
      </p:sp>
      <p:pic>
        <p:nvPicPr>
          <p:cNvPr id="5" name="Picture 5" descr="Diagram&#10;&#10;Description automatically generated">
            <a:extLst>
              <a:ext uri="{FF2B5EF4-FFF2-40B4-BE49-F238E27FC236}">
                <a16:creationId xmlns:a16="http://schemas.microsoft.com/office/drawing/2014/main" id="{688ADF72-D057-4707-A8F7-767F2AFFD42F}"/>
              </a:ext>
            </a:extLst>
          </p:cNvPr>
          <p:cNvPicPr>
            <a:picLocks noChangeAspect="1"/>
          </p:cNvPicPr>
          <p:nvPr/>
        </p:nvPicPr>
        <p:blipFill>
          <a:blip r:embed="rId2"/>
          <a:stretch>
            <a:fillRect/>
          </a:stretch>
        </p:blipFill>
        <p:spPr>
          <a:xfrm>
            <a:off x="63740" y="3300802"/>
            <a:ext cx="3907766" cy="2308098"/>
          </a:xfrm>
          <a:prstGeom prst="rect">
            <a:avLst/>
          </a:prstGeom>
        </p:spPr>
      </p:pic>
      <p:pic>
        <p:nvPicPr>
          <p:cNvPr id="6" name="Picture 6" descr="Diagram&#10;&#10;Description automatically generated">
            <a:extLst>
              <a:ext uri="{FF2B5EF4-FFF2-40B4-BE49-F238E27FC236}">
                <a16:creationId xmlns:a16="http://schemas.microsoft.com/office/drawing/2014/main" id="{7F784342-5305-4401-A28E-A5278DF36B50}"/>
              </a:ext>
            </a:extLst>
          </p:cNvPr>
          <p:cNvPicPr>
            <a:picLocks noChangeAspect="1"/>
          </p:cNvPicPr>
          <p:nvPr/>
        </p:nvPicPr>
        <p:blipFill>
          <a:blip r:embed="rId3"/>
          <a:stretch>
            <a:fillRect/>
          </a:stretch>
        </p:blipFill>
        <p:spPr>
          <a:xfrm>
            <a:off x="3976777" y="3292336"/>
            <a:ext cx="4295955" cy="2314914"/>
          </a:xfrm>
          <a:prstGeom prst="rect">
            <a:avLst/>
          </a:prstGeom>
        </p:spPr>
      </p:pic>
      <p:pic>
        <p:nvPicPr>
          <p:cNvPr id="7" name="Picture 7" descr="Diagram&#10;&#10;Description automatically generated">
            <a:extLst>
              <a:ext uri="{FF2B5EF4-FFF2-40B4-BE49-F238E27FC236}">
                <a16:creationId xmlns:a16="http://schemas.microsoft.com/office/drawing/2014/main" id="{18F46E11-BDD1-4291-B3CA-CC4F413D1516}"/>
              </a:ext>
            </a:extLst>
          </p:cNvPr>
          <p:cNvPicPr>
            <a:picLocks noChangeAspect="1"/>
          </p:cNvPicPr>
          <p:nvPr/>
        </p:nvPicPr>
        <p:blipFill>
          <a:blip r:embed="rId4"/>
          <a:stretch>
            <a:fillRect/>
          </a:stretch>
        </p:blipFill>
        <p:spPr>
          <a:xfrm>
            <a:off x="8261230" y="3299998"/>
            <a:ext cx="3879011" cy="2313967"/>
          </a:xfrm>
          <a:prstGeom prst="rect">
            <a:avLst/>
          </a:prstGeom>
        </p:spPr>
      </p:pic>
    </p:spTree>
    <p:extLst>
      <p:ext uri="{BB962C8B-B14F-4D97-AF65-F5344CB8AC3E}">
        <p14:creationId xmlns:p14="http://schemas.microsoft.com/office/powerpoint/2010/main" val="4079346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81E9B-483D-4A09-AA3A-A59FD64AB840}"/>
              </a:ext>
            </a:extLst>
          </p:cNvPr>
          <p:cNvSpPr>
            <a:spLocks noGrp="1"/>
          </p:cNvSpPr>
          <p:nvPr>
            <p:ph type="title"/>
          </p:nvPr>
        </p:nvSpPr>
        <p:spPr/>
        <p:txBody>
          <a:bodyPr>
            <a:noAutofit/>
          </a:bodyPr>
          <a:lstStyle/>
          <a:p>
            <a:r>
              <a:rPr lang="en-US" sz="2800" cap="none">
                <a:cs typeface="Calibri Light"/>
              </a:rPr>
              <a:t>Literature 4: </a:t>
            </a:r>
            <a:r>
              <a:rPr lang="en-US" sz="2800" cap="none">
                <a:ea typeface="+mj-lt"/>
                <a:cs typeface="+mj-lt"/>
              </a:rPr>
              <a:t>Drawing the Lines of Contention: Networked Frame Contests Within #BlackLivesMatter Discourse</a:t>
            </a:r>
            <a:endParaRPr lang="en-US" sz="2800"/>
          </a:p>
        </p:txBody>
      </p:sp>
      <p:sp>
        <p:nvSpPr>
          <p:cNvPr id="3" name="Content Placeholder 2">
            <a:extLst>
              <a:ext uri="{FF2B5EF4-FFF2-40B4-BE49-F238E27FC236}">
                <a16:creationId xmlns:a16="http://schemas.microsoft.com/office/drawing/2014/main" id="{AA1D0D49-C560-4261-99EF-E7111FC15FEF}"/>
              </a:ext>
            </a:extLst>
          </p:cNvPr>
          <p:cNvSpPr>
            <a:spLocks noGrp="1"/>
          </p:cNvSpPr>
          <p:nvPr>
            <p:ph idx="1"/>
          </p:nvPr>
        </p:nvSpPr>
        <p:spPr>
          <a:xfrm>
            <a:off x="685801" y="2142067"/>
            <a:ext cx="10907802" cy="3620379"/>
          </a:xfrm>
        </p:spPr>
        <p:txBody>
          <a:bodyPr vert="horz" lIns="91440" tIns="45720" rIns="91440" bIns="45720" rtlCol="0" anchor="t">
            <a:normAutofit/>
          </a:bodyPr>
          <a:lstStyle/>
          <a:p>
            <a:pPr marL="0" indent="0">
              <a:buNone/>
            </a:pPr>
            <a:r>
              <a:rPr lang="en-US" sz="2000">
                <a:cs typeface="Calibri" panose="020F0502020204030204"/>
              </a:rPr>
              <a:t>- Using </a:t>
            </a:r>
            <a:r>
              <a:rPr lang="en-US" sz="2000">
                <a:ea typeface="+mn-lt"/>
                <a:cs typeface="+mn-lt"/>
              </a:rPr>
              <a:t>Twitter Streaming API and capture 58,812,322 Twitter posts </a:t>
            </a:r>
          </a:p>
          <a:p>
            <a:pPr marL="0" indent="0">
              <a:buNone/>
            </a:pPr>
            <a:r>
              <a:rPr lang="en-US" sz="2000">
                <a:ea typeface="+mn-lt"/>
                <a:cs typeface="+mn-lt"/>
              </a:rPr>
              <a:t>- 1st: search the posts that contain the incident related keywords such as “shooting”, “gun-shot” etc.</a:t>
            </a:r>
            <a:endParaRPr lang="en-US" sz="2000">
              <a:cs typeface="Calibri"/>
            </a:endParaRPr>
          </a:p>
          <a:p>
            <a:pPr marL="0" indent="0">
              <a:buNone/>
            </a:pPr>
            <a:r>
              <a:rPr lang="en-US" sz="2000">
                <a:ea typeface="+mn-lt"/>
                <a:cs typeface="+mn-lt"/>
              </a:rPr>
              <a:t>- 2nd: subset the tweets that contains keywords related to Black Lives Matter</a:t>
            </a:r>
            <a:endParaRPr lang="en-US" sz="2000">
              <a:cs typeface="Calibri" panose="020F0502020204030204"/>
            </a:endParaRPr>
          </a:p>
        </p:txBody>
      </p:sp>
      <p:sp>
        <p:nvSpPr>
          <p:cNvPr id="4" name="TextBox 3">
            <a:extLst>
              <a:ext uri="{FF2B5EF4-FFF2-40B4-BE49-F238E27FC236}">
                <a16:creationId xmlns:a16="http://schemas.microsoft.com/office/drawing/2014/main" id="{E1F60BB1-00D4-4CBC-8CD7-271A5BC97B9F}"/>
              </a:ext>
            </a:extLst>
          </p:cNvPr>
          <p:cNvSpPr txBox="1"/>
          <p:nvPr/>
        </p:nvSpPr>
        <p:spPr>
          <a:xfrm>
            <a:off x="5741387" y="321334"/>
            <a:ext cx="631407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Leo G. Stewart, Ahmer Arif, A. Conrad Nied, Emma S. Spiro, and Kate Starbird. (2017)</a:t>
            </a:r>
            <a:endParaRPr lang="en-US">
              <a:ea typeface="+mn-lt"/>
              <a:cs typeface="+mn-lt"/>
            </a:endParaRPr>
          </a:p>
        </p:txBody>
      </p:sp>
      <p:pic>
        <p:nvPicPr>
          <p:cNvPr id="5" name="Picture 5" descr="Diagram&#10;&#10;Description automatically generated">
            <a:extLst>
              <a:ext uri="{FF2B5EF4-FFF2-40B4-BE49-F238E27FC236}">
                <a16:creationId xmlns:a16="http://schemas.microsoft.com/office/drawing/2014/main" id="{3D8FD114-AE2A-4DF5-B72F-20FDB96EDB04}"/>
              </a:ext>
            </a:extLst>
          </p:cNvPr>
          <p:cNvPicPr>
            <a:picLocks noChangeAspect="1"/>
          </p:cNvPicPr>
          <p:nvPr/>
        </p:nvPicPr>
        <p:blipFill>
          <a:blip r:embed="rId2"/>
          <a:stretch>
            <a:fillRect/>
          </a:stretch>
        </p:blipFill>
        <p:spPr>
          <a:xfrm>
            <a:off x="3099759" y="3830182"/>
            <a:ext cx="5115462" cy="2950126"/>
          </a:xfrm>
          <a:prstGeom prst="rect">
            <a:avLst/>
          </a:prstGeom>
        </p:spPr>
      </p:pic>
    </p:spTree>
    <p:extLst>
      <p:ext uri="{BB962C8B-B14F-4D97-AF65-F5344CB8AC3E}">
        <p14:creationId xmlns:p14="http://schemas.microsoft.com/office/powerpoint/2010/main" val="2080441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81E9B-483D-4A09-AA3A-A59FD64AB840}"/>
              </a:ext>
            </a:extLst>
          </p:cNvPr>
          <p:cNvSpPr>
            <a:spLocks noGrp="1"/>
          </p:cNvSpPr>
          <p:nvPr>
            <p:ph type="title"/>
          </p:nvPr>
        </p:nvSpPr>
        <p:spPr/>
        <p:txBody>
          <a:bodyPr>
            <a:noAutofit/>
          </a:bodyPr>
          <a:lstStyle/>
          <a:p>
            <a:r>
              <a:rPr lang="en-US" sz="2800" cap="none">
                <a:cs typeface="Calibri Light"/>
              </a:rPr>
              <a:t>Literature 4: </a:t>
            </a:r>
            <a:r>
              <a:rPr lang="en-US" sz="2800" cap="none">
                <a:ea typeface="+mj-lt"/>
                <a:cs typeface="+mj-lt"/>
              </a:rPr>
              <a:t>Drawing the Lines of Contention: Networked Frame Contests Within #BlackLivesMatter Discourse</a:t>
            </a:r>
            <a:endParaRPr lang="en-US" sz="2800"/>
          </a:p>
        </p:txBody>
      </p:sp>
      <p:sp>
        <p:nvSpPr>
          <p:cNvPr id="3" name="Content Placeholder 2">
            <a:extLst>
              <a:ext uri="{FF2B5EF4-FFF2-40B4-BE49-F238E27FC236}">
                <a16:creationId xmlns:a16="http://schemas.microsoft.com/office/drawing/2014/main" id="{AA1D0D49-C560-4261-99EF-E7111FC15FEF}"/>
              </a:ext>
            </a:extLst>
          </p:cNvPr>
          <p:cNvSpPr>
            <a:spLocks noGrp="1"/>
          </p:cNvSpPr>
          <p:nvPr>
            <p:ph idx="1"/>
          </p:nvPr>
        </p:nvSpPr>
        <p:spPr>
          <a:xfrm>
            <a:off x="685801" y="2142067"/>
            <a:ext cx="10907802" cy="4348761"/>
          </a:xfrm>
        </p:spPr>
        <p:txBody>
          <a:bodyPr vert="horz" lIns="91440" tIns="45720" rIns="91440" bIns="45720" rtlCol="0" anchor="t">
            <a:normAutofit/>
          </a:bodyPr>
          <a:lstStyle/>
          <a:p>
            <a:pPr marL="0" indent="0">
              <a:buNone/>
            </a:pPr>
            <a:r>
              <a:rPr lang="en-US" sz="2000">
                <a:cs typeface="Calibri" panose="020F0502020204030204"/>
              </a:rPr>
              <a:t>"Share Audience" Measure</a:t>
            </a:r>
          </a:p>
          <a:p>
            <a:pPr marL="0" indent="0">
              <a:buNone/>
            </a:pPr>
            <a:r>
              <a:rPr lang="en-US" sz="2000">
                <a:cs typeface="Calibri" panose="020F0502020204030204"/>
              </a:rPr>
              <a:t>- </a:t>
            </a:r>
            <a:r>
              <a:rPr lang="en-US" sz="2000">
                <a:ea typeface="+mn-lt"/>
                <a:cs typeface="+mn-lt"/>
              </a:rPr>
              <a:t>Using Jaccard similarity to calculate the friend-following ties and retweet-mention ties. </a:t>
            </a:r>
          </a:p>
          <a:p>
            <a:pPr marL="0" indent="0">
              <a:buNone/>
            </a:pPr>
            <a:endParaRPr lang="en-US" sz="2000">
              <a:ea typeface="+mn-lt"/>
              <a:cs typeface="+mn-lt"/>
            </a:endParaRPr>
          </a:p>
          <a:p>
            <a:pPr marL="0" indent="0">
              <a:buNone/>
            </a:pPr>
            <a:endParaRPr lang="en-US" sz="2000">
              <a:ea typeface="+mn-lt"/>
              <a:cs typeface="+mn-lt"/>
            </a:endParaRPr>
          </a:p>
          <a:p>
            <a:pPr marL="0" indent="0">
              <a:buNone/>
            </a:pPr>
            <a:r>
              <a:rPr lang="en-US" sz="2000">
                <a:ea typeface="+mn-lt"/>
                <a:cs typeface="+mn-lt"/>
              </a:rPr>
              <a:t>- Cluster the data by Louvain modularity </a:t>
            </a:r>
          </a:p>
          <a:p>
            <a:pPr marL="0" indent="0">
              <a:buNone/>
            </a:pPr>
            <a:r>
              <a:rPr lang="en-US" sz="2000">
                <a:ea typeface="+mn-lt"/>
                <a:cs typeface="+mn-lt"/>
              </a:rPr>
              <a:t>- Qualitative alalysis on the cluster's content</a:t>
            </a:r>
          </a:p>
          <a:p>
            <a:pPr marL="0" indent="0">
              <a:buNone/>
            </a:pPr>
            <a:r>
              <a:rPr lang="en-US" sz="2000">
                <a:ea typeface="+mn-lt"/>
                <a:cs typeface="+mn-lt"/>
              </a:rPr>
              <a:t>    -  Analyze the Top 25 most retweeted tweet of each cluster</a:t>
            </a:r>
          </a:p>
          <a:p>
            <a:pPr marL="0" indent="0">
              <a:buNone/>
            </a:pPr>
            <a:r>
              <a:rPr lang="en-US" sz="2000">
                <a:ea typeface="+mn-lt"/>
                <a:cs typeface="+mn-lt"/>
              </a:rPr>
              <a:t>    - understanding how the issue is farmed</a:t>
            </a:r>
          </a:p>
          <a:p>
            <a:pPr marL="0" indent="0">
              <a:buNone/>
            </a:pPr>
            <a:endParaRPr lang="en-US" sz="2000">
              <a:ea typeface="+mn-lt"/>
              <a:cs typeface="+mn-lt"/>
            </a:endParaRPr>
          </a:p>
          <a:p>
            <a:pPr marL="0" indent="0">
              <a:buNone/>
            </a:pPr>
            <a:endParaRPr lang="en-US" sz="2000">
              <a:ea typeface="+mn-lt"/>
              <a:cs typeface="+mn-lt"/>
            </a:endParaRPr>
          </a:p>
          <a:p>
            <a:pPr marL="0" indent="0">
              <a:buNone/>
            </a:pPr>
            <a:endParaRPr lang="en-US" sz="2000">
              <a:ea typeface="+mn-lt"/>
              <a:cs typeface="+mn-lt"/>
            </a:endParaRPr>
          </a:p>
          <a:p>
            <a:pPr marL="0" indent="0">
              <a:buNone/>
            </a:pPr>
            <a:endParaRPr lang="en-US" sz="2000">
              <a:ea typeface="+mn-lt"/>
              <a:cs typeface="+mn-lt"/>
            </a:endParaRPr>
          </a:p>
          <a:p>
            <a:pPr marL="0" indent="0">
              <a:buNone/>
            </a:pPr>
            <a:endParaRPr lang="en-US" sz="2000">
              <a:ea typeface="+mn-lt"/>
              <a:cs typeface="+mn-lt"/>
            </a:endParaRPr>
          </a:p>
          <a:p>
            <a:pPr marL="0" indent="0">
              <a:buNone/>
            </a:pPr>
            <a:endParaRPr lang="en-US" sz="2000">
              <a:ea typeface="+mn-lt"/>
              <a:cs typeface="+mn-lt"/>
            </a:endParaRPr>
          </a:p>
        </p:txBody>
      </p:sp>
      <p:sp>
        <p:nvSpPr>
          <p:cNvPr id="4" name="TextBox 3">
            <a:extLst>
              <a:ext uri="{FF2B5EF4-FFF2-40B4-BE49-F238E27FC236}">
                <a16:creationId xmlns:a16="http://schemas.microsoft.com/office/drawing/2014/main" id="{E1F60BB1-00D4-4CBC-8CD7-271A5BC97B9F}"/>
              </a:ext>
            </a:extLst>
          </p:cNvPr>
          <p:cNvSpPr txBox="1"/>
          <p:nvPr/>
        </p:nvSpPr>
        <p:spPr>
          <a:xfrm>
            <a:off x="5741387" y="321334"/>
            <a:ext cx="631407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Leo G. Stewart, Ahmer Arif, A. Conrad Nied, Emma S. Spiro, and Kate Starbird. (2017)</a:t>
            </a:r>
            <a:endParaRPr lang="en-US">
              <a:ea typeface="+mn-lt"/>
              <a:cs typeface="+mn-lt"/>
            </a:endParaRPr>
          </a:p>
        </p:txBody>
      </p:sp>
      <p:pic>
        <p:nvPicPr>
          <p:cNvPr id="7" name="Picture 4" descr="A picture containing table&#10;&#10;Description automatically generated">
            <a:extLst>
              <a:ext uri="{FF2B5EF4-FFF2-40B4-BE49-F238E27FC236}">
                <a16:creationId xmlns:a16="http://schemas.microsoft.com/office/drawing/2014/main" id="{2A774DD7-1E95-425B-834F-2D75136F8DC7}"/>
              </a:ext>
            </a:extLst>
          </p:cNvPr>
          <p:cNvPicPr>
            <a:picLocks noChangeAspect="1"/>
          </p:cNvPicPr>
          <p:nvPr/>
        </p:nvPicPr>
        <p:blipFill>
          <a:blip r:embed="rId2"/>
          <a:stretch>
            <a:fillRect/>
          </a:stretch>
        </p:blipFill>
        <p:spPr>
          <a:xfrm>
            <a:off x="824752" y="3121361"/>
            <a:ext cx="2743200" cy="606314"/>
          </a:xfrm>
          <a:prstGeom prst="rect">
            <a:avLst/>
          </a:prstGeom>
        </p:spPr>
      </p:pic>
      <p:pic>
        <p:nvPicPr>
          <p:cNvPr id="9" name="Picture 9" descr="Diagram&#10;&#10;Description automatically generated">
            <a:extLst>
              <a:ext uri="{FF2B5EF4-FFF2-40B4-BE49-F238E27FC236}">
                <a16:creationId xmlns:a16="http://schemas.microsoft.com/office/drawing/2014/main" id="{5BB6C14D-CB02-49CC-80A2-D4C8C1BEB281}"/>
              </a:ext>
            </a:extLst>
          </p:cNvPr>
          <p:cNvPicPr>
            <a:picLocks noChangeAspect="1"/>
          </p:cNvPicPr>
          <p:nvPr/>
        </p:nvPicPr>
        <p:blipFill>
          <a:blip r:embed="rId3"/>
          <a:stretch>
            <a:fillRect/>
          </a:stretch>
        </p:blipFill>
        <p:spPr>
          <a:xfrm>
            <a:off x="8153401" y="3052533"/>
            <a:ext cx="3493994" cy="3352698"/>
          </a:xfrm>
          <a:prstGeom prst="rect">
            <a:avLst/>
          </a:prstGeom>
        </p:spPr>
      </p:pic>
    </p:spTree>
    <p:extLst>
      <p:ext uri="{BB962C8B-B14F-4D97-AF65-F5344CB8AC3E}">
        <p14:creationId xmlns:p14="http://schemas.microsoft.com/office/powerpoint/2010/main" val="3903606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81E9B-483D-4A09-AA3A-A59FD64AB840}"/>
              </a:ext>
            </a:extLst>
          </p:cNvPr>
          <p:cNvSpPr>
            <a:spLocks noGrp="1"/>
          </p:cNvSpPr>
          <p:nvPr>
            <p:ph type="title"/>
          </p:nvPr>
        </p:nvSpPr>
        <p:spPr/>
        <p:txBody>
          <a:bodyPr>
            <a:noAutofit/>
          </a:bodyPr>
          <a:lstStyle/>
          <a:p>
            <a:r>
              <a:rPr lang="en-US" sz="2800" cap="none">
                <a:cs typeface="Calibri Light"/>
              </a:rPr>
              <a:t>Literature 4: </a:t>
            </a:r>
            <a:r>
              <a:rPr lang="en-US" sz="2800" cap="none">
                <a:ea typeface="+mj-lt"/>
                <a:cs typeface="+mj-lt"/>
              </a:rPr>
              <a:t>Drawing the Lines of Contention: Networked Frame Contests Within #BlackLivesMatter Discourse</a:t>
            </a:r>
            <a:endParaRPr lang="en-US" sz="2800"/>
          </a:p>
        </p:txBody>
      </p:sp>
      <p:sp>
        <p:nvSpPr>
          <p:cNvPr id="3" name="Content Placeholder 2">
            <a:extLst>
              <a:ext uri="{FF2B5EF4-FFF2-40B4-BE49-F238E27FC236}">
                <a16:creationId xmlns:a16="http://schemas.microsoft.com/office/drawing/2014/main" id="{AA1D0D49-C560-4261-99EF-E7111FC15FEF}"/>
              </a:ext>
            </a:extLst>
          </p:cNvPr>
          <p:cNvSpPr>
            <a:spLocks noGrp="1"/>
          </p:cNvSpPr>
          <p:nvPr>
            <p:ph idx="1"/>
          </p:nvPr>
        </p:nvSpPr>
        <p:spPr>
          <a:xfrm>
            <a:off x="685801" y="2142067"/>
            <a:ext cx="10907802" cy="4348761"/>
          </a:xfrm>
        </p:spPr>
        <p:txBody>
          <a:bodyPr vert="horz" lIns="91440" tIns="45720" rIns="91440" bIns="45720" rtlCol="0" anchor="t">
            <a:normAutofit/>
          </a:bodyPr>
          <a:lstStyle/>
          <a:p>
            <a:pPr marL="0" indent="0">
              <a:buNone/>
            </a:pPr>
            <a:endParaRPr lang="en-US" sz="2000">
              <a:ea typeface="+mn-lt"/>
              <a:cs typeface="+mn-lt"/>
            </a:endParaRPr>
          </a:p>
          <a:p>
            <a:pPr marL="0" indent="0">
              <a:buNone/>
            </a:pPr>
            <a:endParaRPr lang="en-US" sz="2000">
              <a:ea typeface="+mn-lt"/>
              <a:cs typeface="+mn-lt"/>
            </a:endParaRPr>
          </a:p>
          <a:p>
            <a:pPr marL="0" indent="0">
              <a:buNone/>
            </a:pPr>
            <a:endParaRPr lang="en-US" sz="2000">
              <a:ea typeface="+mn-lt"/>
              <a:cs typeface="+mn-lt"/>
            </a:endParaRPr>
          </a:p>
          <a:p>
            <a:pPr marL="0" indent="0">
              <a:buNone/>
            </a:pPr>
            <a:endParaRPr lang="en-US" sz="2000">
              <a:ea typeface="+mn-lt"/>
              <a:cs typeface="+mn-lt"/>
            </a:endParaRPr>
          </a:p>
          <a:p>
            <a:pPr marL="0" indent="0">
              <a:buNone/>
            </a:pPr>
            <a:endParaRPr lang="en-US" sz="2000">
              <a:ea typeface="+mn-lt"/>
              <a:cs typeface="+mn-lt"/>
            </a:endParaRPr>
          </a:p>
          <a:p>
            <a:pPr marL="0" indent="0">
              <a:buNone/>
            </a:pPr>
            <a:endParaRPr lang="en-US" sz="2000">
              <a:ea typeface="+mn-lt"/>
              <a:cs typeface="+mn-lt"/>
            </a:endParaRPr>
          </a:p>
        </p:txBody>
      </p:sp>
      <p:sp>
        <p:nvSpPr>
          <p:cNvPr id="4" name="TextBox 3">
            <a:extLst>
              <a:ext uri="{FF2B5EF4-FFF2-40B4-BE49-F238E27FC236}">
                <a16:creationId xmlns:a16="http://schemas.microsoft.com/office/drawing/2014/main" id="{E1F60BB1-00D4-4CBC-8CD7-271A5BC97B9F}"/>
              </a:ext>
            </a:extLst>
          </p:cNvPr>
          <p:cNvSpPr txBox="1"/>
          <p:nvPr/>
        </p:nvSpPr>
        <p:spPr>
          <a:xfrm>
            <a:off x="5741387" y="321334"/>
            <a:ext cx="631407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Leo G. Stewart, Ahmer Arif, A. Conrad Nied, Emma S. Spiro, and Kate Starbird. (2017)</a:t>
            </a:r>
            <a:endParaRPr lang="en-US">
              <a:ea typeface="+mn-lt"/>
              <a:cs typeface="+mn-lt"/>
            </a:endParaRPr>
          </a:p>
        </p:txBody>
      </p:sp>
      <p:pic>
        <p:nvPicPr>
          <p:cNvPr id="5" name="Picture 5" descr="A picture containing background pattern&#10;&#10;Description automatically generated">
            <a:extLst>
              <a:ext uri="{FF2B5EF4-FFF2-40B4-BE49-F238E27FC236}">
                <a16:creationId xmlns:a16="http://schemas.microsoft.com/office/drawing/2014/main" id="{45EC8F04-8DB3-4A9B-BC85-4120201B8E32}"/>
              </a:ext>
            </a:extLst>
          </p:cNvPr>
          <p:cNvPicPr>
            <a:picLocks noChangeAspect="1"/>
          </p:cNvPicPr>
          <p:nvPr/>
        </p:nvPicPr>
        <p:blipFill>
          <a:blip r:embed="rId2"/>
          <a:stretch>
            <a:fillRect/>
          </a:stretch>
        </p:blipFill>
        <p:spPr>
          <a:xfrm>
            <a:off x="611842" y="3187471"/>
            <a:ext cx="4648199" cy="3071618"/>
          </a:xfrm>
          <a:prstGeom prst="rect">
            <a:avLst/>
          </a:prstGeom>
        </p:spPr>
      </p:pic>
      <p:pic>
        <p:nvPicPr>
          <p:cNvPr id="6" name="Picture 7" descr="Table&#10;&#10;Description automatically generated">
            <a:extLst>
              <a:ext uri="{FF2B5EF4-FFF2-40B4-BE49-F238E27FC236}">
                <a16:creationId xmlns:a16="http://schemas.microsoft.com/office/drawing/2014/main" id="{E6C01504-DADC-46C8-B763-9630A6F248DE}"/>
              </a:ext>
            </a:extLst>
          </p:cNvPr>
          <p:cNvPicPr>
            <a:picLocks noChangeAspect="1"/>
          </p:cNvPicPr>
          <p:nvPr/>
        </p:nvPicPr>
        <p:blipFill>
          <a:blip r:embed="rId3"/>
          <a:stretch>
            <a:fillRect/>
          </a:stretch>
        </p:blipFill>
        <p:spPr>
          <a:xfrm>
            <a:off x="5553635" y="3944183"/>
            <a:ext cx="5746376" cy="1457340"/>
          </a:xfrm>
          <a:prstGeom prst="rect">
            <a:avLst/>
          </a:prstGeom>
        </p:spPr>
      </p:pic>
      <p:sp>
        <p:nvSpPr>
          <p:cNvPr id="9" name="Content Placeholder 2">
            <a:extLst>
              <a:ext uri="{FF2B5EF4-FFF2-40B4-BE49-F238E27FC236}">
                <a16:creationId xmlns:a16="http://schemas.microsoft.com/office/drawing/2014/main" id="{1A66FE04-7291-4730-831F-C67F21ED20E5}"/>
              </a:ext>
            </a:extLst>
          </p:cNvPr>
          <p:cNvSpPr txBox="1">
            <a:spLocks/>
          </p:cNvSpPr>
          <p:nvPr/>
        </p:nvSpPr>
        <p:spPr>
          <a:xfrm>
            <a:off x="838201" y="2070350"/>
            <a:ext cx="10907802" cy="1121467"/>
          </a:xfrm>
          <a:prstGeom prst="rect">
            <a:avLst/>
          </a:prstGeom>
        </p:spPr>
        <p:txBody>
          <a:bodyPr vert="horz" lIns="91440" tIns="45720" rIns="91440" bIns="45720" rtlCol="0" anchor="t">
            <a:normAutofit fontScale="92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2000">
                <a:ea typeface="+mn-lt"/>
                <a:cs typeface="+mn-lt"/>
              </a:rPr>
              <a:t>- Actors' interactions</a:t>
            </a:r>
          </a:p>
          <a:p>
            <a:pPr marL="0" indent="0">
              <a:buNone/>
            </a:pPr>
            <a:r>
              <a:rPr lang="en-US" sz="2000">
                <a:ea typeface="+mn-lt"/>
                <a:cs typeface="+mn-lt"/>
              </a:rPr>
              <a:t>Both side of the cluster would also like to use hashtag of the opposite side to challenge the frame of the opposite parties</a:t>
            </a:r>
            <a:endParaRPr lang="en-US">
              <a:cs typeface="Calibri"/>
            </a:endParaRPr>
          </a:p>
          <a:p>
            <a:pPr marL="0" indent="0">
              <a:buFont typeface="Arial"/>
              <a:buNone/>
            </a:pPr>
            <a:endParaRPr lang="en-US" sz="2000">
              <a:ea typeface="+mn-lt"/>
              <a:cs typeface="+mn-lt"/>
            </a:endParaRPr>
          </a:p>
          <a:p>
            <a:pPr marL="0" indent="0">
              <a:buFont typeface="Arial"/>
              <a:buNone/>
            </a:pPr>
            <a:endParaRPr lang="en-US" sz="2000">
              <a:ea typeface="+mn-lt"/>
              <a:cs typeface="+mn-lt"/>
            </a:endParaRPr>
          </a:p>
          <a:p>
            <a:pPr marL="0" indent="0">
              <a:buFont typeface="Arial"/>
              <a:buNone/>
            </a:pPr>
            <a:endParaRPr lang="en-US" sz="2000">
              <a:ea typeface="+mn-lt"/>
              <a:cs typeface="+mn-lt"/>
            </a:endParaRPr>
          </a:p>
          <a:p>
            <a:pPr marL="0" indent="0">
              <a:buFont typeface="Arial"/>
              <a:buNone/>
            </a:pPr>
            <a:endParaRPr lang="en-US" sz="2000">
              <a:ea typeface="+mn-lt"/>
              <a:cs typeface="+mn-lt"/>
            </a:endParaRPr>
          </a:p>
        </p:txBody>
      </p:sp>
    </p:spTree>
    <p:extLst>
      <p:ext uri="{BB962C8B-B14F-4D97-AF65-F5344CB8AC3E}">
        <p14:creationId xmlns:p14="http://schemas.microsoft.com/office/powerpoint/2010/main" val="763169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81E9B-483D-4A09-AA3A-A59FD64AB840}"/>
              </a:ext>
            </a:extLst>
          </p:cNvPr>
          <p:cNvSpPr>
            <a:spLocks noGrp="1"/>
          </p:cNvSpPr>
          <p:nvPr>
            <p:ph type="title"/>
          </p:nvPr>
        </p:nvSpPr>
        <p:spPr/>
        <p:txBody>
          <a:bodyPr>
            <a:noAutofit/>
          </a:bodyPr>
          <a:lstStyle/>
          <a:p>
            <a:r>
              <a:rPr lang="en-US" sz="2800" cap="none">
                <a:cs typeface="Calibri Light"/>
              </a:rPr>
              <a:t>Advantages and challenges</a:t>
            </a:r>
          </a:p>
        </p:txBody>
      </p:sp>
      <p:sp>
        <p:nvSpPr>
          <p:cNvPr id="3" name="Content Placeholder 2">
            <a:extLst>
              <a:ext uri="{FF2B5EF4-FFF2-40B4-BE49-F238E27FC236}">
                <a16:creationId xmlns:a16="http://schemas.microsoft.com/office/drawing/2014/main" id="{AA1D0D49-C560-4261-99EF-E7111FC15FEF}"/>
              </a:ext>
            </a:extLst>
          </p:cNvPr>
          <p:cNvSpPr>
            <a:spLocks noGrp="1"/>
          </p:cNvSpPr>
          <p:nvPr>
            <p:ph idx="1"/>
          </p:nvPr>
        </p:nvSpPr>
        <p:spPr>
          <a:xfrm>
            <a:off x="685801" y="1775178"/>
            <a:ext cx="10131425" cy="4634420"/>
          </a:xfrm>
        </p:spPr>
        <p:txBody>
          <a:bodyPr vert="horz" lIns="91440" tIns="45720" rIns="91440" bIns="45720" rtlCol="0" anchor="t">
            <a:normAutofit/>
          </a:bodyPr>
          <a:lstStyle/>
          <a:p>
            <a:pPr marL="0" indent="0">
              <a:buNone/>
            </a:pPr>
            <a:r>
              <a:rPr lang="en-US" sz="2000">
                <a:ea typeface="+mn-lt"/>
                <a:cs typeface="+mn-lt"/>
              </a:rPr>
              <a:t>Advantages:</a:t>
            </a:r>
            <a:endParaRPr lang="en-US"/>
          </a:p>
          <a:p>
            <a:pPr marL="0" indent="0">
              <a:buNone/>
            </a:pPr>
            <a:r>
              <a:rPr lang="en-US" sz="2000">
                <a:ea typeface="+mn-lt"/>
                <a:cs typeface="+mn-lt"/>
              </a:rPr>
              <a:t>- able to capture the real social activity within a huge population</a:t>
            </a:r>
            <a:endParaRPr lang="en-US"/>
          </a:p>
          <a:p>
            <a:pPr marL="0" indent="0">
              <a:buNone/>
            </a:pPr>
            <a:r>
              <a:rPr lang="en-US" sz="2000">
                <a:cs typeface="Calibri" panose="020F0502020204030204"/>
              </a:rPr>
              <a:t>- easy access of data and analyzing tools (API) </a:t>
            </a:r>
          </a:p>
          <a:p>
            <a:pPr marL="0" indent="0">
              <a:buNone/>
            </a:pPr>
            <a:r>
              <a:rPr lang="en-US" sz="2000">
                <a:cs typeface="Calibri" panose="020F0502020204030204"/>
              </a:rPr>
              <a:t>- have a more accurate understanding on the flow of information, and the relations and impact between actors (eg individual users/ media users) overtime</a:t>
            </a:r>
          </a:p>
          <a:p>
            <a:pPr marL="0" indent="0">
              <a:buNone/>
            </a:pPr>
            <a:endParaRPr lang="en-US" sz="2000">
              <a:cs typeface="Calibri" panose="020F0502020204030204"/>
            </a:endParaRPr>
          </a:p>
          <a:p>
            <a:pPr marL="0" indent="0">
              <a:buNone/>
            </a:pPr>
            <a:r>
              <a:rPr lang="en-US" sz="2000">
                <a:cs typeface="Calibri" panose="020F0502020204030204"/>
              </a:rPr>
              <a:t>Challenges:</a:t>
            </a:r>
          </a:p>
          <a:p>
            <a:pPr marL="0" indent="0">
              <a:buNone/>
            </a:pPr>
            <a:r>
              <a:rPr lang="en-US" sz="2000">
                <a:cs typeface="Calibri" panose="020F0502020204030204"/>
              </a:rPr>
              <a:t>- ethical concerns (privacy)</a:t>
            </a:r>
          </a:p>
          <a:p>
            <a:pPr marL="0" indent="0">
              <a:buNone/>
            </a:pPr>
            <a:r>
              <a:rPr lang="en-US" sz="2000">
                <a:cs typeface="Calibri" panose="020F0502020204030204"/>
              </a:rPr>
              <a:t>- </a:t>
            </a:r>
            <a:r>
              <a:rPr lang="en-US" sz="2000">
                <a:ea typeface="+mn-lt"/>
                <a:cs typeface="+mn-lt"/>
              </a:rPr>
              <a:t>small-scale content analysis is still important for a deeper understanding collective frame of the cluster</a:t>
            </a:r>
            <a:endParaRPr lang="en-US" sz="2000">
              <a:cs typeface="Calibri" panose="020F0502020204030204"/>
            </a:endParaRPr>
          </a:p>
          <a:p>
            <a:pPr marL="0" indent="0">
              <a:buNone/>
            </a:pPr>
            <a:endParaRPr lang="en-US" sz="2000">
              <a:cs typeface="Calibri" panose="020F0502020204030204"/>
            </a:endParaRPr>
          </a:p>
        </p:txBody>
      </p:sp>
    </p:spTree>
    <p:extLst>
      <p:ext uri="{BB962C8B-B14F-4D97-AF65-F5344CB8AC3E}">
        <p14:creationId xmlns:p14="http://schemas.microsoft.com/office/powerpoint/2010/main" val="1937726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A1540-8F6D-4749-AAFF-E3CBE5624E1F}"/>
              </a:ext>
            </a:extLst>
          </p:cNvPr>
          <p:cNvSpPr>
            <a:spLocks noGrp="1"/>
          </p:cNvSpPr>
          <p:nvPr>
            <p:ph type="title"/>
          </p:nvPr>
        </p:nvSpPr>
        <p:spPr/>
        <p:txBody>
          <a:bodyPr/>
          <a:lstStyle/>
          <a:p>
            <a:r>
              <a:rPr lang="en-US">
                <a:cs typeface="Calibri Light"/>
              </a:rPr>
              <a:t>PROJECT PROPOSAL</a:t>
            </a:r>
            <a:endParaRPr lang="en-US"/>
          </a:p>
        </p:txBody>
      </p:sp>
      <p:sp>
        <p:nvSpPr>
          <p:cNvPr id="3" name="Content Placeholder 2">
            <a:extLst>
              <a:ext uri="{FF2B5EF4-FFF2-40B4-BE49-F238E27FC236}">
                <a16:creationId xmlns:a16="http://schemas.microsoft.com/office/drawing/2014/main" id="{7DCD0056-A479-416D-9841-219144FC76DC}"/>
              </a:ext>
            </a:extLst>
          </p:cNvPr>
          <p:cNvSpPr>
            <a:spLocks noGrp="1"/>
          </p:cNvSpPr>
          <p:nvPr>
            <p:ph idx="1"/>
          </p:nvPr>
        </p:nvSpPr>
        <p:spPr/>
        <p:txBody>
          <a:bodyPr>
            <a:normAutofit/>
          </a:bodyPr>
          <a:lstStyle/>
          <a:p>
            <a:endParaRPr lang="en-US" sz="2400">
              <a:ea typeface="+mn-lt"/>
              <a:cs typeface="+mn-lt"/>
            </a:endParaRPr>
          </a:p>
          <a:p>
            <a:pPr>
              <a:buClr>
                <a:srgbClr val="FFFFFF"/>
              </a:buClr>
            </a:pPr>
            <a:endParaRPr lang="en-US" sz="2400">
              <a:ea typeface="+mn-lt"/>
              <a:cs typeface="+mn-lt"/>
            </a:endParaRPr>
          </a:p>
          <a:p>
            <a:pPr>
              <a:buClr>
                <a:srgbClr val="FFFFFF"/>
              </a:buClr>
            </a:pPr>
            <a:r>
              <a:rPr lang="en-US" sz="2400">
                <a:ea typeface="+mn-lt"/>
                <a:cs typeface="+mn-lt"/>
              </a:rPr>
              <a:t>Twitter</a:t>
            </a:r>
            <a:endParaRPr lang="en-US">
              <a:cs typeface="Calibri"/>
            </a:endParaRPr>
          </a:p>
          <a:p>
            <a:pPr>
              <a:buClr>
                <a:srgbClr val="FFFFFF"/>
              </a:buClr>
            </a:pPr>
            <a:r>
              <a:rPr lang="en-US" sz="2400">
                <a:ea typeface="+mn-lt"/>
                <a:cs typeface="+mn-lt"/>
              </a:rPr>
              <a:t>15 raw data csv files</a:t>
            </a:r>
            <a:endParaRPr lang="en-US"/>
          </a:p>
          <a:p>
            <a:pPr>
              <a:buClr>
                <a:srgbClr val="FFFFFF"/>
              </a:buClr>
            </a:pPr>
            <a:r>
              <a:rPr lang="en-US" sz="2400">
                <a:cs typeface="Calibri" panose="020F0502020204030204"/>
              </a:rPr>
              <a:t>15000 tweets per files</a:t>
            </a:r>
          </a:p>
          <a:p>
            <a:pPr>
              <a:buClr>
                <a:srgbClr val="FFFFFF"/>
              </a:buClr>
            </a:pPr>
            <a:r>
              <a:rPr lang="en-US" sz="2400">
                <a:ea typeface="+mn-lt"/>
                <a:cs typeface="+mn-lt"/>
              </a:rPr>
              <a:t>03/11/2019 to 20/11/2019</a:t>
            </a:r>
          </a:p>
          <a:p>
            <a:pPr>
              <a:buClr>
                <a:srgbClr val="FFFFFF"/>
              </a:buClr>
            </a:pPr>
            <a:endParaRPr lang="en-US" sz="2400">
              <a:ea typeface="+mn-lt"/>
              <a:cs typeface="+mn-lt"/>
            </a:endParaRPr>
          </a:p>
          <a:p>
            <a:pPr>
              <a:buClr>
                <a:srgbClr val="FFFFFF"/>
              </a:buClr>
            </a:pPr>
            <a:endParaRPr lang="en-US" sz="2400">
              <a:cs typeface="Calibri" panose="020F0502020204030204"/>
            </a:endParaRPr>
          </a:p>
          <a:p>
            <a:pPr>
              <a:buClr>
                <a:srgbClr val="FFFFFF"/>
              </a:buClr>
            </a:pPr>
            <a:endParaRPr lang="en-US" sz="2400">
              <a:cs typeface="Calibri" panose="020F0502020204030204"/>
            </a:endParaRPr>
          </a:p>
          <a:p>
            <a:pPr>
              <a:buClr>
                <a:srgbClr val="FFFFFF"/>
              </a:buClr>
            </a:pPr>
            <a:endParaRPr lang="en-US" sz="2400">
              <a:cs typeface="Calibri" panose="020F0502020204030204"/>
            </a:endParaRPr>
          </a:p>
        </p:txBody>
      </p:sp>
    </p:spTree>
    <p:extLst>
      <p:ext uri="{BB962C8B-B14F-4D97-AF65-F5344CB8AC3E}">
        <p14:creationId xmlns:p14="http://schemas.microsoft.com/office/powerpoint/2010/main" val="2815052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EBD08-9E6A-4210-B231-FE0F962FC89C}"/>
              </a:ext>
            </a:extLst>
          </p:cNvPr>
          <p:cNvSpPr>
            <a:spLocks noGrp="1"/>
          </p:cNvSpPr>
          <p:nvPr>
            <p:ph type="title"/>
          </p:nvPr>
        </p:nvSpPr>
        <p:spPr/>
        <p:txBody>
          <a:bodyPr/>
          <a:lstStyle/>
          <a:p>
            <a:r>
              <a:rPr lang="en-US">
                <a:ea typeface="+mj-lt"/>
                <a:cs typeface="+mj-lt"/>
              </a:rPr>
              <a:t>PROJECT PROPOSAL</a:t>
            </a:r>
          </a:p>
        </p:txBody>
      </p:sp>
      <p:sp>
        <p:nvSpPr>
          <p:cNvPr id="3" name="Content Placeholder 2">
            <a:extLst>
              <a:ext uri="{FF2B5EF4-FFF2-40B4-BE49-F238E27FC236}">
                <a16:creationId xmlns:a16="http://schemas.microsoft.com/office/drawing/2014/main" id="{7D27F78E-D32A-408C-8C6B-2AB0A52222CF}"/>
              </a:ext>
            </a:extLst>
          </p:cNvPr>
          <p:cNvSpPr>
            <a:spLocks noGrp="1"/>
          </p:cNvSpPr>
          <p:nvPr>
            <p:ph idx="1"/>
          </p:nvPr>
        </p:nvSpPr>
        <p:spPr/>
        <p:txBody>
          <a:bodyPr/>
          <a:lstStyle/>
          <a:p>
            <a:r>
              <a:rPr lang="en-US" sz="2400">
                <a:ea typeface="+mn-lt"/>
                <a:cs typeface="+mn-lt"/>
              </a:rPr>
              <a:t>Graphed a temporal distribution</a:t>
            </a:r>
            <a:endParaRPr lang="en-US" sz="2400">
              <a:cs typeface="Calibri"/>
            </a:endParaRPr>
          </a:p>
          <a:p>
            <a:pPr>
              <a:buClr>
                <a:srgbClr val="FFFFFF"/>
              </a:buClr>
            </a:pPr>
            <a:r>
              <a:rPr lang="en-US" sz="2400">
                <a:ea typeface="+mn-lt"/>
                <a:cs typeface="+mn-lt"/>
              </a:rPr>
              <a:t>Show the terms appear frequency</a:t>
            </a:r>
            <a:endParaRPr lang="en-US" sz="2400">
              <a:cs typeface="Calibri"/>
            </a:endParaRPr>
          </a:p>
          <a:p>
            <a:pPr>
              <a:buClr>
                <a:srgbClr val="FFFFFF"/>
              </a:buClr>
            </a:pPr>
            <a:r>
              <a:rPr lang="en-US" sz="2400">
                <a:cs typeface="Calibri"/>
              </a:rPr>
              <a:t>Conduct the keywords search twice</a:t>
            </a:r>
            <a:endParaRPr lang="en-US">
              <a:cs typeface="Calibri"/>
            </a:endParaRPr>
          </a:p>
          <a:p>
            <a:pPr>
              <a:buClr>
                <a:srgbClr val="FFFFFF"/>
              </a:buClr>
            </a:pPr>
            <a:r>
              <a:rPr lang="en-US" sz="2400">
                <a:ea typeface="+mn-lt"/>
                <a:cs typeface="+mn-lt"/>
              </a:rPr>
              <a:t>Relate each of the spikes</a:t>
            </a:r>
            <a:endParaRPr lang="en-US" sz="2400">
              <a:cs typeface="Calibri"/>
            </a:endParaRPr>
          </a:p>
          <a:p>
            <a:pPr>
              <a:buClr>
                <a:srgbClr val="FFFFFF"/>
              </a:buClr>
            </a:pPr>
            <a:endParaRPr lang="en-US" sz="2400">
              <a:cs typeface="Calibri"/>
            </a:endParaRPr>
          </a:p>
          <a:p>
            <a:pPr>
              <a:buClr>
                <a:srgbClr val="FFFFFF"/>
              </a:buClr>
            </a:pPr>
            <a:endParaRPr lang="en-US" sz="2400">
              <a:cs typeface="Calibri"/>
            </a:endParaRPr>
          </a:p>
        </p:txBody>
      </p:sp>
    </p:spTree>
    <p:extLst>
      <p:ext uri="{BB962C8B-B14F-4D97-AF65-F5344CB8AC3E}">
        <p14:creationId xmlns:p14="http://schemas.microsoft.com/office/powerpoint/2010/main" val="309597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312AD-21E8-4C7E-8AA4-55544834AEEE}"/>
              </a:ext>
            </a:extLst>
          </p:cNvPr>
          <p:cNvSpPr>
            <a:spLocks noGrp="1"/>
          </p:cNvSpPr>
          <p:nvPr>
            <p:ph type="title"/>
          </p:nvPr>
        </p:nvSpPr>
        <p:spPr/>
        <p:txBody>
          <a:bodyPr>
            <a:normAutofit/>
          </a:bodyPr>
          <a:lstStyle/>
          <a:p>
            <a:r>
              <a:rPr lang="en-US">
                <a:ea typeface="+mj-lt"/>
                <a:cs typeface="+mj-lt"/>
              </a:rPr>
              <a:t>Sentiment classification</a:t>
            </a:r>
          </a:p>
        </p:txBody>
      </p:sp>
      <p:sp>
        <p:nvSpPr>
          <p:cNvPr id="3" name="Content Placeholder 2">
            <a:extLst>
              <a:ext uri="{FF2B5EF4-FFF2-40B4-BE49-F238E27FC236}">
                <a16:creationId xmlns:a16="http://schemas.microsoft.com/office/drawing/2014/main" id="{B5B1C2D0-5CF7-4A61-B56A-317606638544}"/>
              </a:ext>
            </a:extLst>
          </p:cNvPr>
          <p:cNvSpPr>
            <a:spLocks noGrp="1"/>
          </p:cNvSpPr>
          <p:nvPr>
            <p:ph idx="1"/>
          </p:nvPr>
        </p:nvSpPr>
        <p:spPr/>
        <p:txBody>
          <a:bodyPr/>
          <a:lstStyle/>
          <a:p>
            <a:r>
              <a:rPr lang="en-US" sz="2400">
                <a:cs typeface="Calibri"/>
              </a:rPr>
              <a:t>Sentiment classification</a:t>
            </a:r>
            <a:endParaRPr lang="en-US" sz="2200">
              <a:cs typeface="Calibri"/>
            </a:endParaRPr>
          </a:p>
          <a:p>
            <a:pPr lvl="1">
              <a:buClr>
                <a:srgbClr val="FFFFFF"/>
              </a:buClr>
            </a:pPr>
            <a:r>
              <a:rPr lang="en-US" sz="2200">
                <a:ea typeface="+mn-lt"/>
                <a:cs typeface="+mn-lt"/>
              </a:rPr>
              <a:t> NLTK </a:t>
            </a:r>
            <a:r>
              <a:rPr lang="en-US" sz="2200" err="1">
                <a:ea typeface="+mn-lt"/>
                <a:cs typeface="+mn-lt"/>
              </a:rPr>
              <a:t>Vader_Lexicon</a:t>
            </a:r>
            <a:r>
              <a:rPr lang="en-US" sz="2200">
                <a:ea typeface="+mn-lt"/>
                <a:cs typeface="+mn-lt"/>
              </a:rPr>
              <a:t> Library</a:t>
            </a:r>
          </a:p>
          <a:p>
            <a:pPr lvl="1">
              <a:buClr>
                <a:srgbClr val="FFFFFF"/>
              </a:buClr>
            </a:pPr>
            <a:r>
              <a:rPr lang="en-US" sz="2200">
                <a:cs typeface="Calibri"/>
              </a:rPr>
              <a:t>Compound Score</a:t>
            </a:r>
          </a:p>
          <a:p>
            <a:pPr>
              <a:buClr>
                <a:srgbClr val="FFFFFF"/>
              </a:buClr>
            </a:pPr>
            <a:r>
              <a:rPr lang="en-US" sz="2400">
                <a:cs typeface="Calibri"/>
              </a:rPr>
              <a:t>3 cluster</a:t>
            </a:r>
          </a:p>
          <a:p>
            <a:pPr>
              <a:buClr>
                <a:srgbClr val="FFFFFF"/>
              </a:buClr>
            </a:pPr>
            <a:endParaRPr lang="en-US" sz="2400">
              <a:cs typeface="Calibri"/>
            </a:endParaRPr>
          </a:p>
          <a:p>
            <a:pPr>
              <a:buClr>
                <a:srgbClr val="FFFFFF"/>
              </a:buClr>
            </a:pPr>
            <a:endParaRPr lang="en-US" sz="2400">
              <a:cs typeface="Calibri"/>
            </a:endParaRPr>
          </a:p>
        </p:txBody>
      </p:sp>
      <p:sp>
        <p:nvSpPr>
          <p:cNvPr id="4" name="TextBox 3">
            <a:extLst>
              <a:ext uri="{FF2B5EF4-FFF2-40B4-BE49-F238E27FC236}">
                <a16:creationId xmlns:a16="http://schemas.microsoft.com/office/drawing/2014/main" id="{B2B91D46-4081-4C1A-977B-B36C9079649A}"/>
              </a:ext>
            </a:extLst>
          </p:cNvPr>
          <p:cNvSpPr txBox="1"/>
          <p:nvPr/>
        </p:nvSpPr>
        <p:spPr>
          <a:xfrm>
            <a:off x="5747982" y="2472518"/>
            <a:ext cx="5131558" cy="21698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Aft>
                <a:spcPts val="1000"/>
              </a:spcAft>
              <a:buFont typeface="Arial"/>
              <a:buChar char="•"/>
            </a:pPr>
            <a:r>
              <a:rPr lang="en-US" sz="2200">
                <a:cs typeface="Calibri"/>
              </a:rPr>
              <a:t>Word embedding</a:t>
            </a:r>
            <a:endParaRPr lang="en-US" sz="2200">
              <a:ea typeface="+mn-lt"/>
              <a:cs typeface="+mn-lt"/>
            </a:endParaRPr>
          </a:p>
          <a:p>
            <a:pPr marL="742950" lvl="1" indent="-285750">
              <a:spcAft>
                <a:spcPts val="1000"/>
              </a:spcAft>
              <a:buFont typeface="Arial"/>
              <a:buChar char="•"/>
            </a:pPr>
            <a:r>
              <a:rPr lang="en-US" sz="2200">
                <a:cs typeface="Calibri"/>
              </a:rPr>
              <a:t>Continuous Bag-of-Words model (CBOW)</a:t>
            </a:r>
            <a:endParaRPr lang="en-US" sz="2200">
              <a:ea typeface="+mn-lt"/>
              <a:cs typeface="+mn-lt"/>
            </a:endParaRPr>
          </a:p>
          <a:p>
            <a:pPr marL="285750" indent="-285750">
              <a:spcAft>
                <a:spcPts val="1000"/>
              </a:spcAft>
              <a:buFont typeface="Arial"/>
              <a:buChar char="•"/>
            </a:pPr>
            <a:r>
              <a:rPr lang="en-US" sz="2200">
                <a:cs typeface="Calibri"/>
              </a:rPr>
              <a:t>Measure the Twitter user’s sentiment</a:t>
            </a:r>
            <a:endParaRPr lang="en-US" sz="2200">
              <a:ea typeface="+mn-lt"/>
              <a:cs typeface="+mn-lt"/>
            </a:endParaRPr>
          </a:p>
          <a:p>
            <a:pPr algn="l"/>
            <a:endParaRPr lang="en-US" sz="2200">
              <a:cs typeface="Calibri"/>
            </a:endParaRPr>
          </a:p>
        </p:txBody>
      </p:sp>
    </p:spTree>
    <p:extLst>
      <p:ext uri="{BB962C8B-B14F-4D97-AF65-F5344CB8AC3E}">
        <p14:creationId xmlns:p14="http://schemas.microsoft.com/office/powerpoint/2010/main" val="1389356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D9AF3-78A2-4FA4-8862-7070B8B624CB}"/>
              </a:ext>
            </a:extLst>
          </p:cNvPr>
          <p:cNvSpPr>
            <a:spLocks noGrp="1"/>
          </p:cNvSpPr>
          <p:nvPr>
            <p:ph type="title"/>
          </p:nvPr>
        </p:nvSpPr>
        <p:spPr/>
        <p:txBody>
          <a:bodyPr/>
          <a:lstStyle/>
          <a:p>
            <a:r>
              <a:rPr lang="en-US">
                <a:ea typeface="+mj-lt"/>
                <a:cs typeface="+mj-lt"/>
              </a:rPr>
              <a:t>PROJECT PROPOSAL</a:t>
            </a:r>
          </a:p>
        </p:txBody>
      </p:sp>
      <p:sp>
        <p:nvSpPr>
          <p:cNvPr id="3" name="Content Placeholder 2">
            <a:extLst>
              <a:ext uri="{FF2B5EF4-FFF2-40B4-BE49-F238E27FC236}">
                <a16:creationId xmlns:a16="http://schemas.microsoft.com/office/drawing/2014/main" id="{15A97EEC-94B9-4EF6-B3D7-39E7A493AA9A}"/>
              </a:ext>
            </a:extLst>
          </p:cNvPr>
          <p:cNvSpPr>
            <a:spLocks noGrp="1"/>
          </p:cNvSpPr>
          <p:nvPr>
            <p:ph idx="1"/>
          </p:nvPr>
        </p:nvSpPr>
        <p:spPr>
          <a:xfrm>
            <a:off x="685801" y="1761066"/>
            <a:ext cx="10131425" cy="3903133"/>
          </a:xfrm>
        </p:spPr>
        <p:txBody>
          <a:bodyPr/>
          <a:lstStyle/>
          <a:p>
            <a:pPr>
              <a:buClr>
                <a:prstClr val="white"/>
              </a:buClr>
            </a:pPr>
            <a:r>
              <a:rPr lang="en-US">
                <a:cs typeface="Calibri"/>
              </a:rPr>
              <a:t>Network analysis </a:t>
            </a:r>
          </a:p>
          <a:p>
            <a:pPr>
              <a:buClr>
                <a:srgbClr val="FFFFFF"/>
              </a:buClr>
            </a:pPr>
            <a:r>
              <a:rPr lang="en-US">
                <a:cs typeface="Calibri"/>
              </a:rPr>
              <a:t>Use twitter REST API to get user data, mainly their list of followers </a:t>
            </a:r>
          </a:p>
          <a:p>
            <a:pPr>
              <a:buClr>
                <a:srgbClr val="FFFFFF"/>
              </a:buClr>
            </a:pPr>
            <a:r>
              <a:rPr lang="en-US">
                <a:cs typeface="Calibri"/>
              </a:rPr>
              <a:t>Random sample of 1000 within the 50000 users in our list </a:t>
            </a:r>
          </a:p>
          <a:p>
            <a:pPr>
              <a:buClr>
                <a:srgbClr val="FFFFFF"/>
              </a:buClr>
            </a:pPr>
            <a:r>
              <a:rPr lang="en-US">
                <a:cs typeface="Calibri"/>
              </a:rPr>
              <a:t>Their most recent 100,000 followers </a:t>
            </a:r>
          </a:p>
        </p:txBody>
      </p:sp>
    </p:spTree>
    <p:extLst>
      <p:ext uri="{BB962C8B-B14F-4D97-AF65-F5344CB8AC3E}">
        <p14:creationId xmlns:p14="http://schemas.microsoft.com/office/powerpoint/2010/main" val="3628385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D27B0-2E3A-4ADD-A7E0-80031833A1B5}"/>
              </a:ext>
            </a:extLst>
          </p:cNvPr>
          <p:cNvSpPr>
            <a:spLocks noGrp="1"/>
          </p:cNvSpPr>
          <p:nvPr>
            <p:ph type="title"/>
          </p:nvPr>
        </p:nvSpPr>
        <p:spPr/>
        <p:txBody>
          <a:bodyPr/>
          <a:lstStyle/>
          <a:p>
            <a:r>
              <a:rPr lang="en-US">
                <a:ea typeface="+mj-lt"/>
                <a:cs typeface="+mj-lt"/>
              </a:rPr>
              <a:t>PROJECT PROPOSAL</a:t>
            </a:r>
          </a:p>
        </p:txBody>
      </p:sp>
      <p:sp>
        <p:nvSpPr>
          <p:cNvPr id="3" name="Content Placeholder 2">
            <a:extLst>
              <a:ext uri="{FF2B5EF4-FFF2-40B4-BE49-F238E27FC236}">
                <a16:creationId xmlns:a16="http://schemas.microsoft.com/office/drawing/2014/main" id="{A3A49760-2A06-4C40-A419-F4B321E4F1BE}"/>
              </a:ext>
            </a:extLst>
          </p:cNvPr>
          <p:cNvSpPr>
            <a:spLocks noGrp="1"/>
          </p:cNvSpPr>
          <p:nvPr>
            <p:ph idx="1"/>
          </p:nvPr>
        </p:nvSpPr>
        <p:spPr/>
        <p:txBody>
          <a:bodyPr/>
          <a:lstStyle/>
          <a:p>
            <a:r>
              <a:rPr lang="en-US">
                <a:cs typeface="Calibri"/>
              </a:rPr>
              <a:t>Shared audience measure metric between 2 users </a:t>
            </a:r>
          </a:p>
          <a:p>
            <a:pPr>
              <a:buClr>
                <a:srgbClr val="FFFFFF"/>
              </a:buClr>
            </a:pPr>
            <a:endParaRPr lang="en-US">
              <a:cs typeface="Calibri"/>
            </a:endParaRPr>
          </a:p>
          <a:p>
            <a:pPr>
              <a:buClr>
                <a:srgbClr val="FFFFFF"/>
              </a:buClr>
            </a:pPr>
            <a:endParaRPr lang="en-US">
              <a:cs typeface="Calibri"/>
            </a:endParaRPr>
          </a:p>
          <a:p>
            <a:pPr>
              <a:buClr>
                <a:srgbClr val="FFFFFF"/>
              </a:buClr>
            </a:pPr>
            <a:r>
              <a:rPr lang="en-US">
                <a:cs typeface="Calibri"/>
              </a:rPr>
              <a:t>The more common followers they have, closer the two users are </a:t>
            </a:r>
          </a:p>
          <a:p>
            <a:pPr>
              <a:buClr>
                <a:srgbClr val="FFFFFF"/>
              </a:buClr>
            </a:pPr>
            <a:endParaRPr lang="en-US">
              <a:cs typeface="Calibri"/>
            </a:endParaRPr>
          </a:p>
        </p:txBody>
      </p:sp>
      <p:pic>
        <p:nvPicPr>
          <p:cNvPr id="4" name="Picture 4" descr="A picture containing table&#10;&#10;Description automatically generated">
            <a:extLst>
              <a:ext uri="{FF2B5EF4-FFF2-40B4-BE49-F238E27FC236}">
                <a16:creationId xmlns:a16="http://schemas.microsoft.com/office/drawing/2014/main" id="{5ACAE5A9-7049-43D3-8526-E2DC786383F0}"/>
              </a:ext>
            </a:extLst>
          </p:cNvPr>
          <p:cNvPicPr>
            <a:picLocks noChangeAspect="1"/>
          </p:cNvPicPr>
          <p:nvPr/>
        </p:nvPicPr>
        <p:blipFill>
          <a:blip r:embed="rId2"/>
          <a:stretch>
            <a:fillRect/>
          </a:stretch>
        </p:blipFill>
        <p:spPr>
          <a:xfrm>
            <a:off x="1048870" y="3367890"/>
            <a:ext cx="2743200" cy="606314"/>
          </a:xfrm>
          <a:prstGeom prst="rect">
            <a:avLst/>
          </a:prstGeom>
        </p:spPr>
      </p:pic>
    </p:spTree>
    <p:extLst>
      <p:ext uri="{BB962C8B-B14F-4D97-AF65-F5344CB8AC3E}">
        <p14:creationId xmlns:p14="http://schemas.microsoft.com/office/powerpoint/2010/main" val="1989364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C0A7C-D575-469C-9004-E63F2B82202D}"/>
              </a:ext>
            </a:extLst>
          </p:cNvPr>
          <p:cNvSpPr>
            <a:spLocks noGrp="1"/>
          </p:cNvSpPr>
          <p:nvPr>
            <p:ph type="title"/>
          </p:nvPr>
        </p:nvSpPr>
        <p:spPr/>
        <p:txBody>
          <a:bodyPr/>
          <a:lstStyle/>
          <a:p>
            <a:r>
              <a:rPr lang="en-US">
                <a:ea typeface="+mj-lt"/>
                <a:cs typeface="+mj-lt"/>
              </a:rPr>
              <a:t>PROJECT PROPOSAL</a:t>
            </a:r>
            <a:endParaRPr lang="en-US"/>
          </a:p>
        </p:txBody>
      </p:sp>
      <p:sp>
        <p:nvSpPr>
          <p:cNvPr id="3" name="Content Placeholder 2">
            <a:extLst>
              <a:ext uri="{FF2B5EF4-FFF2-40B4-BE49-F238E27FC236}">
                <a16:creationId xmlns:a16="http://schemas.microsoft.com/office/drawing/2014/main" id="{06F8E571-A99E-467C-9A2B-64CB39B4D91E}"/>
              </a:ext>
            </a:extLst>
          </p:cNvPr>
          <p:cNvSpPr>
            <a:spLocks noGrp="1"/>
          </p:cNvSpPr>
          <p:nvPr>
            <p:ph idx="1"/>
          </p:nvPr>
        </p:nvSpPr>
        <p:spPr/>
        <p:txBody>
          <a:bodyPr/>
          <a:lstStyle/>
          <a:p>
            <a:r>
              <a:rPr lang="en-US">
                <a:cs typeface="Calibri"/>
              </a:rPr>
              <a:t>Whether there are distinct clusters</a:t>
            </a:r>
          </a:p>
          <a:p>
            <a:pPr>
              <a:buClr>
                <a:srgbClr val="FFFFFF"/>
              </a:buClr>
            </a:pPr>
            <a:r>
              <a:rPr lang="en-US">
                <a:cs typeface="Calibri"/>
              </a:rPr>
              <a:t>Common attributes within clusters (common hashtags, wordings, locations) </a:t>
            </a:r>
          </a:p>
          <a:p>
            <a:pPr>
              <a:buClr>
                <a:srgbClr val="FFFFFF"/>
              </a:buClr>
            </a:pPr>
            <a:r>
              <a:rPr lang="en-US">
                <a:cs typeface="Calibri"/>
              </a:rPr>
              <a:t>Study the interactions between clusters (numbers of retweets)</a:t>
            </a:r>
          </a:p>
          <a:p>
            <a:pPr>
              <a:buClr>
                <a:srgbClr val="FFFFFF"/>
              </a:buClr>
            </a:pPr>
            <a:r>
              <a:rPr lang="en-US">
                <a:cs typeface="Calibri"/>
              </a:rPr>
              <a:t>Information flow, which are the dominant clusters</a:t>
            </a:r>
          </a:p>
          <a:p>
            <a:pPr>
              <a:buClr>
                <a:srgbClr val="FFFFFF"/>
              </a:buClr>
            </a:pPr>
            <a:endParaRPr lang="en-US">
              <a:cs typeface="Calibri"/>
            </a:endParaRPr>
          </a:p>
        </p:txBody>
      </p:sp>
    </p:spTree>
    <p:extLst>
      <p:ext uri="{BB962C8B-B14F-4D97-AF65-F5344CB8AC3E}">
        <p14:creationId xmlns:p14="http://schemas.microsoft.com/office/powerpoint/2010/main" val="2185993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E1475-C10A-4493-B7E7-67ABB654B236}"/>
              </a:ext>
            </a:extLst>
          </p:cNvPr>
          <p:cNvSpPr>
            <a:spLocks noGrp="1"/>
          </p:cNvSpPr>
          <p:nvPr>
            <p:ph type="title"/>
          </p:nvPr>
        </p:nvSpPr>
        <p:spPr/>
        <p:txBody>
          <a:bodyPr/>
          <a:lstStyle/>
          <a:p>
            <a:r>
              <a:rPr lang="en-US">
                <a:cs typeface="Calibri Light"/>
              </a:rPr>
              <a:t>PROJECT PROPOSAL</a:t>
            </a:r>
            <a:endParaRPr lang="en-US"/>
          </a:p>
        </p:txBody>
      </p:sp>
      <p:sp>
        <p:nvSpPr>
          <p:cNvPr id="3" name="Content Placeholder 2">
            <a:extLst>
              <a:ext uri="{FF2B5EF4-FFF2-40B4-BE49-F238E27FC236}">
                <a16:creationId xmlns:a16="http://schemas.microsoft.com/office/drawing/2014/main" id="{96C41BF3-5C42-4689-9FA3-00783240CB4F}"/>
              </a:ext>
            </a:extLst>
          </p:cNvPr>
          <p:cNvSpPr>
            <a:spLocks noGrp="1"/>
          </p:cNvSpPr>
          <p:nvPr>
            <p:ph idx="1"/>
          </p:nvPr>
        </p:nvSpPr>
        <p:spPr/>
        <p:txBody>
          <a:bodyPr/>
          <a:lstStyle/>
          <a:p>
            <a:r>
              <a:rPr lang="en-US">
                <a:cs typeface="Calibri"/>
              </a:rPr>
              <a:t>Dynamic of clusters </a:t>
            </a:r>
          </a:p>
          <a:p>
            <a:pPr>
              <a:buClr>
                <a:srgbClr val="FFFFFF"/>
              </a:buClr>
            </a:pPr>
            <a:r>
              <a:rPr lang="en-US">
                <a:cs typeface="Calibri"/>
              </a:rPr>
              <a:t>Whose tweets get retweeted the most</a:t>
            </a:r>
          </a:p>
          <a:p>
            <a:pPr>
              <a:buClr>
                <a:srgbClr val="FFFFFF"/>
              </a:buClr>
            </a:pPr>
            <a:r>
              <a:rPr lang="en-US">
                <a:cs typeface="Calibri"/>
              </a:rPr>
              <a:t>Changes over the 17 days data collection period </a:t>
            </a:r>
          </a:p>
        </p:txBody>
      </p:sp>
    </p:spTree>
    <p:extLst>
      <p:ext uri="{BB962C8B-B14F-4D97-AF65-F5344CB8AC3E}">
        <p14:creationId xmlns:p14="http://schemas.microsoft.com/office/powerpoint/2010/main" val="40511215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6476F"/>
      </a:dk2>
      <a:lt2>
        <a:srgbClr val="EBEBEB"/>
      </a:lt2>
      <a:accent1>
        <a:srgbClr val="E5B458"/>
      </a:accent1>
      <a:accent2>
        <a:srgbClr val="F77754"/>
      </a:accent2>
      <a:accent3>
        <a:srgbClr val="D8507E"/>
      </a:accent3>
      <a:accent4>
        <a:srgbClr val="BC70EE"/>
      </a:accent4>
      <a:accent5>
        <a:srgbClr val="3CA2E2"/>
      </a:accent5>
      <a:accent6>
        <a:srgbClr val="91BF77"/>
      </a:accent6>
      <a:hlink>
        <a:srgbClr val="71DDAB"/>
      </a:hlink>
      <a:folHlink>
        <a:srgbClr val="A6E4C7"/>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B36E0D05-787B-4C61-8268-2D6C1FBEDA32}"/>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19</Slides>
  <Notes>0</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Celestial</vt:lpstr>
      <vt:lpstr> SOSC 4300 Literature Review How social media captures the evolvement of social movement Group: idk-lol </vt:lpstr>
      <vt:lpstr>Introduction</vt:lpstr>
      <vt:lpstr>Introduction</vt:lpstr>
      <vt:lpstr>Background</vt:lpstr>
      <vt:lpstr>Importance </vt:lpstr>
      <vt:lpstr>Literature 1: hashtag activism and message frames among social movement organizations: semantic network analysis and thematic analysis of twitter during the #metoo movement (Xiong, Cho &amp; Boatwright, 2019) </vt:lpstr>
      <vt:lpstr>Literature 2: analyzing the impact of social media on social movements: a computational study on twitter and the occupy wall street movement (Li, Ponnam, Gillham, Edwards &amp; Johnson, 2013). </vt:lpstr>
      <vt:lpstr>Literature 3: Big Data: Methodological Challenges and Approaches for Sociological Analysis</vt:lpstr>
      <vt:lpstr>Literature 4: Drawing the Lines of Contention: Networked Frame Contests Within #BlackLivesMatter Discourse</vt:lpstr>
      <vt:lpstr>Literature 4: Drawing the Lines of Contention: Networked Frame Contests Within #BlackLivesMatter Discourse</vt:lpstr>
      <vt:lpstr>Literature 4: Drawing the Lines of Contention: Networked Frame Contests Within #BlackLivesMatter Discourse</vt:lpstr>
      <vt:lpstr>Advantages and challenges</vt:lpstr>
      <vt:lpstr>PROJECT PROPOSAL</vt:lpstr>
      <vt:lpstr>PROJECT PROPOSAL</vt:lpstr>
      <vt:lpstr>Sentiment classification</vt:lpstr>
      <vt:lpstr>PROJECT PROPOSAL</vt:lpstr>
      <vt:lpstr>PROJECT PROPOSAL</vt:lpstr>
      <vt:lpstr>PROJECT PROPOSAL</vt:lpstr>
      <vt:lpstr>PROJECT PROPOSAL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c:title>
  <dc:creator/>
  <cp:revision>1</cp:revision>
  <dcterms:created xsi:type="dcterms:W3CDTF">2020-11-07T15:29:32Z</dcterms:created>
  <dcterms:modified xsi:type="dcterms:W3CDTF">2020-11-10T15:55:29Z</dcterms:modified>
</cp:coreProperties>
</file>